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1" r:id="rId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84A946-D3E6-114E-BBB9-99AD9EE603F6}" v="4" dt="2025-11-06T20:47:09.845"/>
    <p1510:client id="{7FE095E7-5B6B-9E1F-9A1E-57016C10DE9B}" v="120" dt="2025-11-06T21:17:26.154"/>
    <p1510:client id="{985E41FF-5797-553E-CF1F-33A4339845DC}" v="77" dt="2025-11-06T20:52:40.308"/>
    <p1510:client id="{AE72170A-89A0-8522-8386-5861AD60F533}" v="91" dt="2025-11-06T21:30:47.876"/>
    <p1510:client id="{C4F2B519-C60C-FA10-3DE4-E292556B899B}" v="337" dt="2025-11-06T21:12:06.311"/>
    <p1510:client id="{F1E2CA84-8C7A-42F4-BB6F-1F817C5E7FF8}" v="22" dt="2025-11-06T20:48:15.091"/>
    <p1510:client id="{FA4E7CB7-3134-7BF5-E14E-C8F02C78FA8E}" v="63" dt="2025-11-07T14:01:44.0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7.11.2025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099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7.11.2025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431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7.11.2025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683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7.11.2025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2797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7.11.2025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674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7.11.2025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1482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7.11.2025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9817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7.11.2025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091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7.11.2025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18175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7.11.2025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7874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7.11.2025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4856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072480-10DA-4FB4-BEAE-2A1DEA90F248}" type="datetimeFigureOut">
              <a:rPr lang="tr-TR" smtClean="0"/>
              <a:t>7.11.2025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2468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524000" y="794837"/>
            <a:ext cx="9144000" cy="2126915"/>
          </a:xfrm>
        </p:spPr>
        <p:txBody>
          <a:bodyPr>
            <a:normAutofit/>
          </a:bodyPr>
          <a:lstStyle/>
          <a:p>
            <a:r>
              <a:rPr lang="tr-TR"/>
              <a:t>VETERINARY CLINIC MANAGEMENT SYSTEM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561933"/>
            <a:ext cx="9144000" cy="19164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/>
              <a:t>Fatma Gülse IŞLAK</a:t>
            </a:r>
          </a:p>
          <a:p>
            <a:r>
              <a:rPr lang="tr-TR" err="1"/>
              <a:t>Ayşenaz</a:t>
            </a:r>
            <a:r>
              <a:rPr lang="tr-TR"/>
              <a:t> İSKİT</a:t>
            </a:r>
          </a:p>
          <a:p>
            <a:r>
              <a:rPr lang="tr-TR"/>
              <a:t>Ada Eylül DEMİRCİ</a:t>
            </a:r>
          </a:p>
          <a:p>
            <a:r>
              <a:rPr lang="tr-TR"/>
              <a:t>Zeynep Tuna TOSUN</a:t>
            </a:r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98BF1431-C2BC-273D-B549-C69F9582955B}"/>
              </a:ext>
            </a:extLst>
          </p:cNvPr>
          <p:cNvSpPr txBox="1"/>
          <p:nvPr/>
        </p:nvSpPr>
        <p:spPr>
          <a:xfrm>
            <a:off x="940169" y="435165"/>
            <a:ext cx="38095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r-TR" sz="4000"/>
              <a:t>INTRODUCTION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9AED5123-F590-87E8-7437-3D9F87EC0C06}"/>
              </a:ext>
            </a:extLst>
          </p:cNvPr>
          <p:cNvSpPr txBox="1"/>
          <p:nvPr/>
        </p:nvSpPr>
        <p:spPr>
          <a:xfrm>
            <a:off x="937863" y="1369571"/>
            <a:ext cx="10313275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b="1" err="1">
                <a:ea typeface="+mn-lt"/>
                <a:cs typeface="+mn-lt"/>
              </a:rPr>
              <a:t>Goal</a:t>
            </a:r>
            <a:r>
              <a:rPr lang="tr-TR" b="1">
                <a:ea typeface="+mn-lt"/>
                <a:cs typeface="+mn-lt"/>
              </a:rPr>
              <a:t>:</a:t>
            </a:r>
            <a:r>
              <a:rPr lang="tr-TR">
                <a:ea typeface="+mn-lt"/>
                <a:cs typeface="+mn-lt"/>
              </a:rPr>
              <a:t> </a:t>
            </a:r>
            <a:r>
              <a:rPr lang="tr-TR" err="1">
                <a:ea typeface="+mn-lt"/>
                <a:cs typeface="+mn-lt"/>
              </a:rPr>
              <a:t>Digitalize</a:t>
            </a:r>
            <a:r>
              <a:rPr lang="tr-TR">
                <a:ea typeface="+mn-lt"/>
                <a:cs typeface="+mn-lt"/>
              </a:rPr>
              <a:t> a </a:t>
            </a:r>
            <a:r>
              <a:rPr lang="tr-TR" err="1">
                <a:ea typeface="+mn-lt"/>
                <a:cs typeface="+mn-lt"/>
              </a:rPr>
              <a:t>clinic’s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daily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workflow</a:t>
            </a:r>
            <a:r>
              <a:rPr lang="tr-TR">
                <a:ea typeface="+mn-lt"/>
                <a:cs typeface="+mn-lt"/>
              </a:rPr>
              <a:t> — </a:t>
            </a:r>
            <a:r>
              <a:rPr lang="tr-TR" err="1">
                <a:ea typeface="+mn-lt"/>
                <a:cs typeface="+mn-lt"/>
              </a:rPr>
              <a:t>from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registering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pets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to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billing</a:t>
            </a:r>
            <a:r>
              <a:rPr lang="tr-TR">
                <a:ea typeface="+mn-lt"/>
                <a:cs typeface="+mn-lt"/>
              </a:rPr>
              <a:t>.</a:t>
            </a:r>
            <a:br>
              <a:rPr lang="tr-TR">
                <a:ea typeface="+mn-lt"/>
                <a:cs typeface="+mn-lt"/>
              </a:rPr>
            </a:br>
            <a:r>
              <a:rPr lang="tr-TR" b="1" err="1">
                <a:ea typeface="+mn-lt"/>
                <a:cs typeface="+mn-lt"/>
              </a:rPr>
              <a:t>Users</a:t>
            </a:r>
            <a:r>
              <a:rPr lang="tr-TR">
                <a:ea typeface="+mn-lt"/>
                <a:cs typeface="+mn-lt"/>
              </a:rPr>
              <a:t>: </a:t>
            </a:r>
            <a:r>
              <a:rPr lang="tr-TR" err="1">
                <a:ea typeface="+mn-lt"/>
                <a:cs typeface="+mn-lt"/>
              </a:rPr>
              <a:t>Veterinarians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and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reception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staff</a:t>
            </a:r>
            <a:r>
              <a:rPr lang="tr-TR">
                <a:ea typeface="+mn-lt"/>
                <a:cs typeface="+mn-lt"/>
              </a:rPr>
              <a:t>.</a:t>
            </a:r>
            <a:endParaRPr lang="tr-TR"/>
          </a:p>
          <a:p>
            <a:r>
              <a:rPr lang="tr-TR" b="1" err="1">
                <a:ea typeface="+mn-lt"/>
                <a:cs typeface="+mn-lt"/>
              </a:rPr>
              <a:t>Entities</a:t>
            </a:r>
            <a:r>
              <a:rPr lang="tr-TR" b="1">
                <a:ea typeface="+mn-lt"/>
                <a:cs typeface="+mn-lt"/>
              </a:rPr>
              <a:t>:</a:t>
            </a:r>
            <a:r>
              <a:rPr lang="tr-TR">
                <a:ea typeface="+mn-lt"/>
                <a:cs typeface="+mn-lt"/>
              </a:rPr>
              <a:t> </a:t>
            </a:r>
            <a:r>
              <a:rPr lang="tr-TR" err="1">
                <a:ea typeface="+mn-lt"/>
                <a:cs typeface="+mn-lt"/>
              </a:rPr>
              <a:t>Owner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Animal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Veterinarian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Appointment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Disease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Diagnosis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Treatment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Invoice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InvoiceItem</a:t>
            </a:r>
            <a:r>
              <a:rPr lang="tr-TR">
                <a:ea typeface="+mn-lt"/>
                <a:cs typeface="+mn-lt"/>
              </a:rPr>
              <a:t> </a:t>
            </a:r>
            <a:r>
              <a:rPr lang="tr-TR" i="1">
                <a:ea typeface="+mn-lt"/>
                <a:cs typeface="+mn-lt"/>
              </a:rPr>
              <a:t>(</a:t>
            </a:r>
            <a:r>
              <a:rPr lang="tr-TR" i="1" err="1">
                <a:ea typeface="+mn-lt"/>
                <a:cs typeface="+mn-lt"/>
              </a:rPr>
              <a:t>weak</a:t>
            </a:r>
            <a:r>
              <a:rPr lang="tr-TR" i="1">
                <a:ea typeface="+mn-lt"/>
                <a:cs typeface="+mn-lt"/>
              </a:rPr>
              <a:t>)</a:t>
            </a:r>
            <a:endParaRPr lang="tr-TR">
              <a:ea typeface="+mn-lt"/>
              <a:cs typeface="+mn-lt"/>
            </a:endParaRPr>
          </a:p>
          <a:p>
            <a:endParaRPr lang="tr-TR" i="1">
              <a:ea typeface="+mn-lt"/>
              <a:cs typeface="+mn-lt"/>
            </a:endParaRPr>
          </a:p>
          <a:p>
            <a:br>
              <a:rPr lang="tr-TR" i="1">
                <a:ea typeface="+mn-lt"/>
                <a:cs typeface="+mn-lt"/>
              </a:rPr>
            </a:br>
            <a:r>
              <a:rPr lang="tr-TR" b="1" i="1" err="1">
                <a:ea typeface="+mn-lt"/>
                <a:cs typeface="+mn-lt"/>
              </a:rPr>
              <a:t>Keys</a:t>
            </a:r>
            <a:r>
              <a:rPr lang="tr-TR" b="1" i="1">
                <a:ea typeface="+mn-lt"/>
                <a:cs typeface="+mn-lt"/>
              </a:rPr>
              <a:t>:</a:t>
            </a:r>
            <a:endParaRPr lang="tr-TR" b="1"/>
          </a:p>
          <a:p>
            <a:pPr marL="285750" indent="-285750">
              <a:buFont typeface="Arial"/>
              <a:buChar char="•"/>
            </a:pPr>
            <a:r>
              <a:rPr lang="tr-TR" b="1" err="1">
                <a:ea typeface="+mn-lt"/>
                <a:cs typeface="+mn-lt"/>
              </a:rPr>
              <a:t>PKs</a:t>
            </a:r>
            <a:r>
              <a:rPr lang="tr-TR" b="1">
                <a:ea typeface="+mn-lt"/>
                <a:cs typeface="+mn-lt"/>
              </a:rPr>
              <a:t>:</a:t>
            </a:r>
            <a:r>
              <a:rPr lang="tr-TR">
                <a:ea typeface="+mn-lt"/>
                <a:cs typeface="+mn-lt"/>
              </a:rPr>
              <a:t> ID of </a:t>
            </a:r>
            <a:r>
              <a:rPr lang="tr-TR" err="1">
                <a:ea typeface="+mn-lt"/>
                <a:cs typeface="+mn-lt"/>
              </a:rPr>
              <a:t>each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entity</a:t>
            </a:r>
            <a:endParaRPr lang="tr-TR" err="1"/>
          </a:p>
          <a:p>
            <a:pPr marL="285750" indent="-285750">
              <a:buFont typeface="Arial"/>
              <a:buChar char="•"/>
            </a:pPr>
            <a:r>
              <a:rPr lang="tr-TR" b="1" err="1">
                <a:ea typeface="+mn-lt"/>
                <a:cs typeface="+mn-lt"/>
              </a:rPr>
              <a:t>FKs</a:t>
            </a:r>
            <a:r>
              <a:rPr lang="tr-TR" b="1">
                <a:ea typeface="+mn-lt"/>
                <a:cs typeface="+mn-lt"/>
              </a:rPr>
              <a:t>:</a:t>
            </a:r>
            <a:r>
              <a:rPr lang="tr-TR">
                <a:ea typeface="+mn-lt"/>
                <a:cs typeface="+mn-lt"/>
              </a:rPr>
              <a:t> </a:t>
            </a:r>
            <a:r>
              <a:rPr lang="tr-TR" err="1">
                <a:ea typeface="+mn-lt"/>
                <a:cs typeface="+mn-lt"/>
              </a:rPr>
              <a:t>e.g</a:t>
            </a:r>
            <a:r>
              <a:rPr lang="tr-TR">
                <a:ea typeface="+mn-lt"/>
                <a:cs typeface="+mn-lt"/>
              </a:rPr>
              <a:t>. </a:t>
            </a:r>
            <a:r>
              <a:rPr lang="tr-TR" err="1">
                <a:latin typeface="Consolas"/>
                <a:ea typeface="+mn-lt"/>
                <a:cs typeface="+mn-lt"/>
              </a:rPr>
              <a:t>Animal.OwnerID</a:t>
            </a:r>
            <a:r>
              <a:rPr lang="tr-TR">
                <a:ea typeface="+mn-lt"/>
                <a:cs typeface="+mn-lt"/>
              </a:rPr>
              <a:t>, </a:t>
            </a:r>
            <a:r>
              <a:rPr lang="tr-TR" err="1">
                <a:latin typeface="Consolas"/>
                <a:ea typeface="+mn-lt"/>
                <a:cs typeface="+mn-lt"/>
              </a:rPr>
              <a:t>Appointment.VetID</a:t>
            </a:r>
            <a:endParaRPr lang="tr-TR" err="1"/>
          </a:p>
          <a:p>
            <a:pPr marL="285750" indent="-285750">
              <a:buFont typeface="Arial"/>
              <a:buChar char="•"/>
            </a:pPr>
            <a:r>
              <a:rPr lang="tr-TR" b="1" err="1">
                <a:ea typeface="+mn-lt"/>
                <a:cs typeface="+mn-lt"/>
              </a:rPr>
              <a:t>Partial</a:t>
            </a:r>
            <a:r>
              <a:rPr lang="tr-TR" b="1">
                <a:ea typeface="+mn-lt"/>
                <a:cs typeface="+mn-lt"/>
              </a:rPr>
              <a:t>:</a:t>
            </a:r>
            <a:r>
              <a:rPr lang="tr-TR">
                <a:ea typeface="+mn-lt"/>
                <a:cs typeface="+mn-lt"/>
              </a:rPr>
              <a:t> </a:t>
            </a:r>
            <a:r>
              <a:rPr lang="tr-TR" err="1">
                <a:latin typeface="Consolas"/>
                <a:ea typeface="+mn-lt"/>
                <a:cs typeface="+mn-lt"/>
              </a:rPr>
              <a:t>InvoiceItem</a:t>
            </a:r>
            <a:r>
              <a:rPr lang="tr-TR">
                <a:ea typeface="+mn-lt"/>
                <a:cs typeface="+mn-lt"/>
              </a:rPr>
              <a:t> (</a:t>
            </a:r>
            <a:r>
              <a:rPr lang="tr-TR" err="1">
                <a:ea typeface="+mn-lt"/>
                <a:cs typeface="+mn-lt"/>
              </a:rPr>
              <a:t>depends</a:t>
            </a:r>
            <a:r>
              <a:rPr lang="tr-TR">
                <a:ea typeface="+mn-lt"/>
                <a:cs typeface="+mn-lt"/>
              </a:rPr>
              <a:t> on </a:t>
            </a:r>
            <a:r>
              <a:rPr lang="tr-TR" err="1">
                <a:ea typeface="+mn-lt"/>
                <a:cs typeface="+mn-lt"/>
              </a:rPr>
              <a:t>Invoice</a:t>
            </a:r>
            <a:r>
              <a:rPr lang="tr-TR">
                <a:ea typeface="+mn-lt"/>
                <a:cs typeface="+mn-lt"/>
              </a:rPr>
              <a:t>)</a:t>
            </a:r>
            <a:endParaRPr lang="tr-TR"/>
          </a:p>
          <a:p>
            <a:endParaRPr lang="tr-TR">
              <a:ea typeface="+mn-lt"/>
              <a:cs typeface="+mn-lt"/>
            </a:endParaRPr>
          </a:p>
          <a:p>
            <a:endParaRPr lang="tr-TR">
              <a:ea typeface="+mn-lt"/>
              <a:cs typeface="+mn-lt"/>
            </a:endParaRPr>
          </a:p>
          <a:p>
            <a:r>
              <a:rPr lang="tr-TR" b="1">
                <a:ea typeface="+mn-lt"/>
                <a:cs typeface="+mn-lt"/>
              </a:rPr>
              <a:t>Main </a:t>
            </a:r>
            <a:r>
              <a:rPr lang="tr-TR" b="1" err="1">
                <a:ea typeface="+mn-lt"/>
                <a:cs typeface="+mn-lt"/>
              </a:rPr>
              <a:t>Constraints</a:t>
            </a:r>
            <a:r>
              <a:rPr lang="tr-TR" b="1">
                <a:ea typeface="+mn-lt"/>
                <a:cs typeface="+mn-lt"/>
              </a:rPr>
              <a:t>:</a:t>
            </a:r>
            <a:endParaRPr lang="tr-TR"/>
          </a:p>
          <a:p>
            <a:pPr marL="285750" indent="-285750">
              <a:buFont typeface="Arial"/>
              <a:buChar char="•"/>
            </a:pPr>
            <a:r>
              <a:rPr lang="tr-TR">
                <a:ea typeface="+mn-lt"/>
                <a:cs typeface="+mn-lt"/>
              </a:rPr>
              <a:t>30-minute </a:t>
            </a:r>
            <a:r>
              <a:rPr lang="tr-TR" err="1">
                <a:ea typeface="+mn-lt"/>
                <a:cs typeface="+mn-lt"/>
              </a:rPr>
              <a:t>appointment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slots</a:t>
            </a:r>
            <a:endParaRPr lang="tr-TR" err="1"/>
          </a:p>
          <a:p>
            <a:pPr marL="285750" indent="-285750">
              <a:buFont typeface="Arial"/>
              <a:buChar char="•"/>
            </a:pPr>
            <a:r>
              <a:rPr lang="tr-TR" err="1">
                <a:ea typeface="+mn-lt"/>
                <a:cs typeface="+mn-lt"/>
              </a:rPr>
              <a:t>One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vet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per</a:t>
            </a:r>
            <a:r>
              <a:rPr lang="tr-TR">
                <a:ea typeface="+mn-lt"/>
                <a:cs typeface="+mn-lt"/>
              </a:rPr>
              <a:t> time slot</a:t>
            </a:r>
            <a:endParaRPr lang="tr-TR"/>
          </a:p>
          <a:p>
            <a:pPr marL="285750" indent="-285750">
              <a:buFont typeface="Arial"/>
              <a:buChar char="•"/>
            </a:pPr>
            <a:r>
              <a:rPr lang="tr-TR" err="1">
                <a:ea typeface="+mn-lt"/>
                <a:cs typeface="+mn-lt"/>
              </a:rPr>
              <a:t>Diagnosis</a:t>
            </a:r>
            <a:r>
              <a:rPr lang="tr-TR">
                <a:ea typeface="+mn-lt"/>
                <a:cs typeface="+mn-lt"/>
              </a:rPr>
              <a:t>/</a:t>
            </a:r>
            <a:r>
              <a:rPr lang="tr-TR" err="1">
                <a:ea typeface="+mn-lt"/>
                <a:cs typeface="+mn-lt"/>
              </a:rPr>
              <a:t>Invoice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only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if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appointment</a:t>
            </a:r>
            <a:r>
              <a:rPr lang="tr-TR">
                <a:ea typeface="+mn-lt"/>
                <a:cs typeface="+mn-lt"/>
              </a:rPr>
              <a:t> is </a:t>
            </a:r>
            <a:r>
              <a:rPr lang="tr-TR" i="1" err="1">
                <a:ea typeface="+mn-lt"/>
                <a:cs typeface="+mn-lt"/>
              </a:rPr>
              <a:t>Confirmed</a:t>
            </a:r>
            <a:r>
              <a:rPr lang="tr-TR" i="1">
                <a:ea typeface="+mn-lt"/>
                <a:cs typeface="+mn-lt"/>
              </a:rPr>
              <a:t>/Done</a:t>
            </a:r>
            <a:endParaRPr lang="tr-TR"/>
          </a:p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1462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>
            <a:extLst>
              <a:ext uri="{FF2B5EF4-FFF2-40B4-BE49-F238E27FC236}">
                <a16:creationId xmlns:a16="http://schemas.microsoft.com/office/drawing/2014/main" id="{71A85C6E-FBCF-4CE5-E9C8-9F158AEEF254}"/>
              </a:ext>
            </a:extLst>
          </p:cNvPr>
          <p:cNvSpPr txBox="1"/>
          <p:nvPr/>
        </p:nvSpPr>
        <p:spPr>
          <a:xfrm>
            <a:off x="738490" y="1179186"/>
            <a:ext cx="10195034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Times New Roman"/>
                <a:cs typeface="Times New Roman"/>
              </a:rPr>
              <a:t>Owner: </a:t>
            </a:r>
            <a:r>
              <a:rPr lang="en-US" sz="2000">
                <a:latin typeface="Times New Roman"/>
                <a:cs typeface="Times New Roman"/>
              </a:rPr>
              <a:t>Stores information about pet owners.</a:t>
            </a:r>
            <a:br>
              <a:rPr lang="en-US" sz="2000">
                <a:latin typeface="Times New Roman"/>
                <a:cs typeface="Times New Roman"/>
              </a:rPr>
            </a:br>
            <a:r>
              <a:rPr lang="en-US" sz="2000">
                <a:solidFill>
                  <a:srgbClr val="FF0000"/>
                </a:solidFill>
                <a:latin typeface="Times New Roman"/>
                <a:cs typeface="Times New Roman"/>
              </a:rPr>
              <a:t>Animal:</a:t>
            </a:r>
            <a:r>
              <a:rPr lang="en-US" sz="2000">
                <a:latin typeface="Times New Roman"/>
                <a:cs typeface="Times New Roman"/>
              </a:rPr>
              <a:t> Keeps pet details and links each pet to its owner.</a:t>
            </a:r>
            <a:br>
              <a:rPr lang="en-US" sz="2000">
                <a:latin typeface="Times New Roman"/>
                <a:cs typeface="Times New Roman"/>
              </a:rPr>
            </a:br>
            <a:r>
              <a:rPr lang="en-US" sz="2000">
                <a:solidFill>
                  <a:srgbClr val="FF0000"/>
                </a:solidFill>
                <a:latin typeface="Times New Roman"/>
                <a:cs typeface="Times New Roman"/>
              </a:rPr>
              <a:t>Veterinarian:</a:t>
            </a:r>
            <a:r>
              <a:rPr lang="en-US" sz="2000">
                <a:latin typeface="Times New Roman"/>
                <a:cs typeface="Times New Roman"/>
              </a:rPr>
              <a:t> Holds veterinarian profile and specialty data.</a:t>
            </a:r>
            <a:br>
              <a:rPr lang="en-US" sz="2000">
                <a:latin typeface="Times New Roman"/>
                <a:cs typeface="Times New Roman"/>
              </a:rPr>
            </a:br>
            <a:r>
              <a:rPr lang="en-US" sz="2000">
                <a:solidFill>
                  <a:srgbClr val="FF0000"/>
                </a:solidFill>
                <a:latin typeface="Times New Roman"/>
                <a:cs typeface="Times New Roman"/>
              </a:rPr>
              <a:t>Appointment:</a:t>
            </a:r>
            <a:r>
              <a:rPr lang="en-US" sz="2000">
                <a:latin typeface="Times New Roman"/>
                <a:cs typeface="Times New Roman"/>
              </a:rPr>
              <a:t> Scheduled visit connecting an </a:t>
            </a:r>
            <a:r>
              <a:rPr lang="en-US" sz="2000" b="1">
                <a:latin typeface="Times New Roman"/>
                <a:cs typeface="Times New Roman"/>
              </a:rPr>
              <a:t>Animal</a:t>
            </a:r>
            <a:r>
              <a:rPr lang="en-US" sz="2000">
                <a:latin typeface="Times New Roman"/>
                <a:cs typeface="Times New Roman"/>
              </a:rPr>
              <a:t> and a </a:t>
            </a:r>
            <a:r>
              <a:rPr lang="en-US" sz="2000" b="1">
                <a:latin typeface="Times New Roman"/>
                <a:cs typeface="Times New Roman"/>
              </a:rPr>
              <a:t>Veterinarian</a:t>
            </a:r>
            <a:r>
              <a:rPr lang="en-US" sz="2000">
                <a:latin typeface="Times New Roman"/>
                <a:cs typeface="Times New Roman"/>
              </a:rPr>
              <a:t> with start/end time and status.</a:t>
            </a:r>
            <a:br>
              <a:rPr lang="en-US" sz="2000">
                <a:latin typeface="Times New Roman"/>
                <a:cs typeface="Times New Roman"/>
              </a:rPr>
            </a:br>
            <a:r>
              <a:rPr lang="en-US" sz="2000">
                <a:solidFill>
                  <a:srgbClr val="FF0000"/>
                </a:solidFill>
                <a:latin typeface="Times New Roman"/>
                <a:cs typeface="Times New Roman"/>
              </a:rPr>
              <a:t>Disease: </a:t>
            </a:r>
            <a:r>
              <a:rPr lang="en-US" sz="2000">
                <a:latin typeface="Times New Roman"/>
                <a:cs typeface="Times New Roman"/>
              </a:rPr>
              <a:t>Catalog of diseases (name + short description) referenced by diagnoses.</a:t>
            </a:r>
            <a:br>
              <a:rPr lang="en-US" sz="2000">
                <a:latin typeface="Times New Roman"/>
                <a:cs typeface="Times New Roman"/>
              </a:rPr>
            </a:br>
            <a:r>
              <a:rPr lang="en-US" sz="2000">
                <a:solidFill>
                  <a:srgbClr val="FF0000"/>
                </a:solidFill>
                <a:latin typeface="Times New Roman"/>
                <a:cs typeface="Times New Roman"/>
              </a:rPr>
              <a:t>Diagnosis: </a:t>
            </a:r>
            <a:r>
              <a:rPr lang="en-US" sz="2000">
                <a:latin typeface="Times New Roman"/>
                <a:cs typeface="Times New Roman"/>
              </a:rPr>
              <a:t>Medical record created for an appointment (disease name, notes, vitals).</a:t>
            </a:r>
            <a:br>
              <a:rPr lang="en-US" sz="2000">
                <a:latin typeface="Times New Roman"/>
                <a:cs typeface="Times New Roman"/>
              </a:rPr>
            </a:br>
            <a:r>
              <a:rPr lang="en-US" sz="2000">
                <a:solidFill>
                  <a:srgbClr val="FF0000"/>
                </a:solidFill>
                <a:latin typeface="Times New Roman"/>
                <a:cs typeface="Times New Roman"/>
              </a:rPr>
              <a:t>Treatment: </a:t>
            </a:r>
            <a:r>
              <a:rPr lang="en-US" sz="2000">
                <a:latin typeface="Times New Roman"/>
                <a:cs typeface="Times New Roman"/>
              </a:rPr>
              <a:t>Catalog of treatments/medications (name, type, optional price) used for billing lines.</a:t>
            </a:r>
            <a:br>
              <a:rPr lang="en-US" sz="2000">
                <a:latin typeface="Times New Roman"/>
                <a:cs typeface="Times New Roman"/>
              </a:rPr>
            </a:br>
            <a:r>
              <a:rPr lang="en-US" sz="2000">
                <a:solidFill>
                  <a:srgbClr val="FF0000"/>
                </a:solidFill>
                <a:latin typeface="Times New Roman"/>
                <a:cs typeface="Times New Roman"/>
              </a:rPr>
              <a:t>Invoice:</a:t>
            </a:r>
            <a:r>
              <a:rPr lang="en-US" sz="2000">
                <a:latin typeface="Times New Roman"/>
                <a:cs typeface="Times New Roman"/>
              </a:rPr>
              <a:t> Billing record generated for an appointment (issue date, status, total).</a:t>
            </a:r>
            <a:br>
              <a:rPr lang="en-US" sz="2000">
                <a:latin typeface="Times New Roman"/>
                <a:cs typeface="Times New Roman"/>
              </a:rPr>
            </a:br>
            <a:r>
              <a:rPr lang="en-US" sz="2000" err="1">
                <a:solidFill>
                  <a:srgbClr val="FF0000"/>
                </a:solidFill>
                <a:latin typeface="Times New Roman"/>
                <a:cs typeface="Times New Roman"/>
              </a:rPr>
              <a:t>InvoiceItem</a:t>
            </a:r>
            <a:r>
              <a:rPr lang="en-US" sz="200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000" i="1">
                <a:solidFill>
                  <a:srgbClr val="FF0000"/>
                </a:solidFill>
                <a:latin typeface="Times New Roman"/>
                <a:cs typeface="Times New Roman"/>
              </a:rPr>
              <a:t>(weak entity): </a:t>
            </a:r>
            <a:r>
              <a:rPr lang="en-US" sz="2000">
                <a:latin typeface="Times New Roman"/>
                <a:cs typeface="Times New Roman"/>
              </a:rPr>
              <a:t>Line items of an invoice (description/qty/unit price/line total), optionally linked to a Treatment.</a:t>
            </a:r>
            <a:endParaRPr lang="tr-TR" sz="2000">
              <a:latin typeface="Times New Roman"/>
              <a:cs typeface="Times New Roman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EF450320-1138-3915-3720-8830AE2CFC53}"/>
              </a:ext>
            </a:extLst>
          </p:cNvPr>
          <p:cNvSpPr txBox="1"/>
          <p:nvPr/>
        </p:nvSpPr>
        <p:spPr>
          <a:xfrm>
            <a:off x="740794" y="382613"/>
            <a:ext cx="348293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3200"/>
              <a:t>ENTITIES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BEB906C2-D8B5-EB91-62E4-695DE6FE683E}"/>
              </a:ext>
            </a:extLst>
          </p:cNvPr>
          <p:cNvSpPr txBox="1"/>
          <p:nvPr/>
        </p:nvSpPr>
        <p:spPr>
          <a:xfrm>
            <a:off x="738720" y="4572461"/>
            <a:ext cx="974834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b="1" err="1">
                <a:ea typeface="+mn-lt"/>
                <a:cs typeface="+mn-lt"/>
              </a:rPr>
              <a:t>Keys</a:t>
            </a:r>
            <a:endParaRPr lang="tr-TR" b="1" err="1"/>
          </a:p>
          <a:p>
            <a:pPr marL="285750" indent="-285750">
              <a:buFont typeface="Arial"/>
              <a:buChar char="•"/>
            </a:pPr>
            <a:r>
              <a:rPr lang="tr-TR" b="1" err="1">
                <a:ea typeface="+mn-lt"/>
                <a:cs typeface="+mn-lt"/>
              </a:rPr>
              <a:t>Primary</a:t>
            </a:r>
            <a:r>
              <a:rPr lang="tr-TR" b="1">
                <a:ea typeface="+mn-lt"/>
                <a:cs typeface="+mn-lt"/>
              </a:rPr>
              <a:t> </a:t>
            </a:r>
            <a:r>
              <a:rPr lang="tr-TR" b="1" err="1">
                <a:ea typeface="+mn-lt"/>
                <a:cs typeface="+mn-lt"/>
              </a:rPr>
              <a:t>Keys</a:t>
            </a:r>
            <a:r>
              <a:rPr lang="tr-TR" b="1">
                <a:ea typeface="+mn-lt"/>
                <a:cs typeface="+mn-lt"/>
              </a:rPr>
              <a:t>:</a:t>
            </a:r>
            <a:r>
              <a:rPr lang="tr-TR">
                <a:ea typeface="+mn-lt"/>
                <a:cs typeface="+mn-lt"/>
              </a:rPr>
              <a:t> </a:t>
            </a:r>
            <a:r>
              <a:rPr lang="tr-TR" err="1">
                <a:ea typeface="+mn-lt"/>
                <a:cs typeface="+mn-lt"/>
              </a:rPr>
              <a:t>All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IDs</a:t>
            </a:r>
            <a:endParaRPr lang="tr-TR" err="1"/>
          </a:p>
          <a:p>
            <a:pPr marL="285750" indent="-285750">
              <a:buFont typeface="Arial"/>
              <a:buChar char="•"/>
            </a:pPr>
            <a:r>
              <a:rPr lang="tr-TR" b="1" err="1">
                <a:ea typeface="+mn-lt"/>
                <a:cs typeface="+mn-lt"/>
              </a:rPr>
              <a:t>Foreign</a:t>
            </a:r>
            <a:r>
              <a:rPr lang="tr-TR" b="1">
                <a:ea typeface="+mn-lt"/>
                <a:cs typeface="+mn-lt"/>
              </a:rPr>
              <a:t> </a:t>
            </a:r>
            <a:r>
              <a:rPr lang="tr-TR" b="1" err="1">
                <a:ea typeface="+mn-lt"/>
                <a:cs typeface="+mn-lt"/>
              </a:rPr>
              <a:t>Keys</a:t>
            </a:r>
            <a:r>
              <a:rPr lang="tr-TR" b="1">
                <a:ea typeface="+mn-lt"/>
                <a:cs typeface="+mn-lt"/>
              </a:rPr>
              <a:t>:</a:t>
            </a:r>
            <a:r>
              <a:rPr lang="tr-TR">
                <a:ea typeface="+mn-lt"/>
                <a:cs typeface="+mn-lt"/>
              </a:rPr>
              <a:t> </a:t>
            </a:r>
            <a:r>
              <a:rPr lang="tr-TR" err="1">
                <a:ea typeface="+mn-lt"/>
                <a:cs typeface="+mn-lt"/>
              </a:rPr>
              <a:t>Animal.OwnerID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Appointment.VetID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Diagnosis.DiseaseID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etc</a:t>
            </a:r>
            <a:r>
              <a:rPr lang="tr-TR">
                <a:ea typeface="+mn-lt"/>
                <a:cs typeface="+mn-lt"/>
              </a:rPr>
              <a:t>.</a:t>
            </a:r>
            <a:endParaRPr lang="tr-TR"/>
          </a:p>
          <a:p>
            <a:pPr marL="285750" indent="-285750">
              <a:buFont typeface="Arial"/>
              <a:buChar char="•"/>
            </a:pPr>
            <a:r>
              <a:rPr lang="tr-TR" b="1" err="1">
                <a:ea typeface="+mn-lt"/>
                <a:cs typeface="+mn-lt"/>
              </a:rPr>
              <a:t>Partial</a:t>
            </a:r>
            <a:r>
              <a:rPr lang="tr-TR" b="1">
                <a:ea typeface="+mn-lt"/>
                <a:cs typeface="+mn-lt"/>
              </a:rPr>
              <a:t> </a:t>
            </a:r>
            <a:r>
              <a:rPr lang="tr-TR" b="1" err="1">
                <a:ea typeface="+mn-lt"/>
                <a:cs typeface="+mn-lt"/>
              </a:rPr>
              <a:t>Key</a:t>
            </a:r>
            <a:r>
              <a:rPr lang="tr-TR" b="1">
                <a:ea typeface="+mn-lt"/>
                <a:cs typeface="+mn-lt"/>
              </a:rPr>
              <a:t>:</a:t>
            </a:r>
            <a:r>
              <a:rPr lang="tr-TR">
                <a:ea typeface="+mn-lt"/>
                <a:cs typeface="+mn-lt"/>
              </a:rPr>
              <a:t> </a:t>
            </a:r>
            <a:r>
              <a:rPr lang="tr-TR" err="1">
                <a:ea typeface="+mn-lt"/>
                <a:cs typeface="+mn-lt"/>
              </a:rPr>
              <a:t>InvoiceItem</a:t>
            </a:r>
            <a:r>
              <a:rPr lang="tr-TR">
                <a:ea typeface="+mn-lt"/>
                <a:cs typeface="+mn-lt"/>
              </a:rPr>
              <a:t> (</a:t>
            </a:r>
            <a:r>
              <a:rPr lang="tr-TR" err="1">
                <a:ea typeface="+mn-lt"/>
                <a:cs typeface="+mn-lt"/>
              </a:rPr>
              <a:t>depends</a:t>
            </a:r>
            <a:r>
              <a:rPr lang="tr-TR">
                <a:ea typeface="+mn-lt"/>
                <a:cs typeface="+mn-lt"/>
              </a:rPr>
              <a:t> on </a:t>
            </a:r>
            <a:r>
              <a:rPr lang="tr-TR" err="1">
                <a:ea typeface="+mn-lt"/>
                <a:cs typeface="+mn-lt"/>
              </a:rPr>
              <a:t>Invoice</a:t>
            </a:r>
            <a:r>
              <a:rPr lang="tr-TR">
                <a:ea typeface="+mn-lt"/>
                <a:cs typeface="+mn-lt"/>
              </a:rPr>
              <a:t>)</a:t>
            </a:r>
            <a:endParaRPr lang="tr-TR"/>
          </a:p>
          <a:p>
            <a:pPr algn="l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55033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4910D35-AB9E-AD02-5DEE-89B8A77AA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0195"/>
          </a:xfrm>
        </p:spPr>
        <p:txBody>
          <a:bodyPr>
            <a:normAutofit fontScale="90000"/>
          </a:bodyPr>
          <a:lstStyle/>
          <a:p>
            <a:r>
              <a:rPr lang="tr-TR" err="1"/>
              <a:t>Attributes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9645372-3063-45A4-31F7-0960ACDEB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3731"/>
            <a:ext cx="10515600" cy="5394074"/>
          </a:xfr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tr-TR" b="1" err="1">
                <a:ea typeface="+mn-lt"/>
                <a:cs typeface="+mn-lt"/>
              </a:rPr>
              <a:t>Owner</a:t>
            </a:r>
            <a:r>
              <a:rPr lang="tr-TR" b="1">
                <a:ea typeface="+mn-lt"/>
                <a:cs typeface="+mn-lt"/>
              </a:rPr>
              <a:t>:</a:t>
            </a:r>
            <a:r>
              <a:rPr lang="tr-TR">
                <a:ea typeface="+mn-lt"/>
                <a:cs typeface="+mn-lt"/>
              </a:rPr>
              <a:t> </a:t>
            </a:r>
            <a:r>
              <a:rPr lang="tr-TR" err="1">
                <a:ea typeface="+mn-lt"/>
                <a:cs typeface="+mn-lt"/>
              </a:rPr>
              <a:t>OwnerID</a:t>
            </a:r>
            <a:r>
              <a:rPr lang="tr-TR">
                <a:ea typeface="+mn-lt"/>
                <a:cs typeface="+mn-lt"/>
              </a:rPr>
              <a:t> (PK), </a:t>
            </a:r>
            <a:r>
              <a:rPr lang="tr-TR" err="1">
                <a:ea typeface="+mn-lt"/>
                <a:cs typeface="+mn-lt"/>
              </a:rPr>
              <a:t>FullName</a:t>
            </a:r>
            <a:r>
              <a:rPr lang="tr-TR">
                <a:ea typeface="+mn-lt"/>
                <a:cs typeface="+mn-lt"/>
              </a:rPr>
              <a:t>, Phone, </a:t>
            </a:r>
            <a:r>
              <a:rPr lang="tr-TR" err="1">
                <a:ea typeface="+mn-lt"/>
                <a:cs typeface="+mn-lt"/>
              </a:rPr>
              <a:t>Email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CreatedAt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ModifiedAt</a:t>
            </a:r>
          </a:p>
          <a:p>
            <a:pPr marL="0" indent="0">
              <a:buNone/>
            </a:pPr>
            <a:br>
              <a:rPr lang="tr-TR">
                <a:ea typeface="+mn-lt"/>
                <a:cs typeface="+mn-lt"/>
              </a:rPr>
            </a:br>
            <a:r>
              <a:rPr lang="tr-TR" b="1" err="1">
                <a:ea typeface="+mn-lt"/>
                <a:cs typeface="+mn-lt"/>
              </a:rPr>
              <a:t>Animal</a:t>
            </a:r>
            <a:r>
              <a:rPr lang="tr-TR" b="1">
                <a:ea typeface="+mn-lt"/>
                <a:cs typeface="+mn-lt"/>
              </a:rPr>
              <a:t>: </a:t>
            </a:r>
            <a:r>
              <a:rPr lang="tr-TR" err="1">
                <a:ea typeface="+mn-lt"/>
                <a:cs typeface="+mn-lt"/>
              </a:rPr>
              <a:t>AnimalID</a:t>
            </a:r>
            <a:r>
              <a:rPr lang="tr-TR">
                <a:ea typeface="+mn-lt"/>
                <a:cs typeface="+mn-lt"/>
              </a:rPr>
              <a:t> (PK), </a:t>
            </a:r>
            <a:r>
              <a:rPr lang="tr-TR" err="1">
                <a:ea typeface="+mn-lt"/>
                <a:cs typeface="+mn-lt"/>
              </a:rPr>
              <a:t>OwnerID</a:t>
            </a:r>
            <a:r>
              <a:rPr lang="tr-TR">
                <a:ea typeface="+mn-lt"/>
                <a:cs typeface="+mn-lt"/>
              </a:rPr>
              <a:t> (FK), Name, </a:t>
            </a:r>
            <a:r>
              <a:rPr lang="tr-TR" err="1">
                <a:ea typeface="+mn-lt"/>
                <a:cs typeface="+mn-lt"/>
              </a:rPr>
              <a:t>Species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Breed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Gender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BirthDate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Notes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CreatedAt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ModifiedAt</a:t>
            </a:r>
          </a:p>
          <a:p>
            <a:pPr marL="0" indent="0">
              <a:buNone/>
            </a:pPr>
            <a:br>
              <a:rPr lang="tr-TR">
                <a:ea typeface="+mn-lt"/>
                <a:cs typeface="+mn-lt"/>
              </a:rPr>
            </a:br>
            <a:r>
              <a:rPr lang="tr-TR" b="1" err="1">
                <a:ea typeface="+mn-lt"/>
                <a:cs typeface="+mn-lt"/>
              </a:rPr>
              <a:t>Veterinarian</a:t>
            </a:r>
            <a:r>
              <a:rPr lang="tr-TR" b="1">
                <a:ea typeface="+mn-lt"/>
                <a:cs typeface="+mn-lt"/>
              </a:rPr>
              <a:t>:</a:t>
            </a:r>
            <a:r>
              <a:rPr lang="tr-TR">
                <a:ea typeface="+mn-lt"/>
                <a:cs typeface="+mn-lt"/>
              </a:rPr>
              <a:t> </a:t>
            </a:r>
            <a:r>
              <a:rPr lang="tr-TR" err="1">
                <a:ea typeface="+mn-lt"/>
                <a:cs typeface="+mn-lt"/>
              </a:rPr>
              <a:t>VetID</a:t>
            </a:r>
            <a:r>
              <a:rPr lang="tr-TR">
                <a:ea typeface="+mn-lt"/>
                <a:cs typeface="+mn-lt"/>
              </a:rPr>
              <a:t> (PK), </a:t>
            </a:r>
            <a:r>
              <a:rPr lang="tr-TR" err="1">
                <a:ea typeface="+mn-lt"/>
                <a:cs typeface="+mn-lt"/>
              </a:rPr>
              <a:t>FullName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Specialty</a:t>
            </a:r>
            <a:r>
              <a:rPr lang="tr-TR">
                <a:ea typeface="+mn-lt"/>
                <a:cs typeface="+mn-lt"/>
              </a:rPr>
              <a:t>, Phone, </a:t>
            </a:r>
            <a:r>
              <a:rPr lang="tr-TR" err="1">
                <a:ea typeface="+mn-lt"/>
                <a:cs typeface="+mn-lt"/>
              </a:rPr>
              <a:t>Email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CreatedAt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ModifiedAt</a:t>
            </a:r>
          </a:p>
          <a:p>
            <a:pPr marL="0" indent="0">
              <a:buNone/>
            </a:pPr>
            <a:br>
              <a:rPr lang="tr-TR">
                <a:ea typeface="+mn-lt"/>
                <a:cs typeface="+mn-lt"/>
              </a:rPr>
            </a:br>
            <a:r>
              <a:rPr lang="tr-TR" b="1" err="1">
                <a:ea typeface="+mn-lt"/>
                <a:cs typeface="+mn-lt"/>
              </a:rPr>
              <a:t>Appointment</a:t>
            </a:r>
            <a:r>
              <a:rPr lang="tr-TR" b="1">
                <a:ea typeface="+mn-lt"/>
                <a:cs typeface="+mn-lt"/>
              </a:rPr>
              <a:t>:</a:t>
            </a:r>
            <a:r>
              <a:rPr lang="tr-TR">
                <a:ea typeface="+mn-lt"/>
                <a:cs typeface="+mn-lt"/>
              </a:rPr>
              <a:t> </a:t>
            </a:r>
            <a:r>
              <a:rPr lang="tr-TR" err="1">
                <a:ea typeface="+mn-lt"/>
                <a:cs typeface="+mn-lt"/>
              </a:rPr>
              <a:t>AppointmentID</a:t>
            </a:r>
            <a:r>
              <a:rPr lang="tr-TR">
                <a:ea typeface="+mn-lt"/>
                <a:cs typeface="+mn-lt"/>
              </a:rPr>
              <a:t> (PK), </a:t>
            </a:r>
            <a:r>
              <a:rPr lang="tr-TR" err="1">
                <a:ea typeface="+mn-lt"/>
                <a:cs typeface="+mn-lt"/>
              </a:rPr>
              <a:t>AnimalID</a:t>
            </a:r>
            <a:r>
              <a:rPr lang="tr-TR">
                <a:ea typeface="+mn-lt"/>
                <a:cs typeface="+mn-lt"/>
              </a:rPr>
              <a:t> (FK), </a:t>
            </a:r>
            <a:r>
              <a:rPr lang="tr-TR" err="1">
                <a:ea typeface="+mn-lt"/>
                <a:cs typeface="+mn-lt"/>
              </a:rPr>
              <a:t>VetID</a:t>
            </a:r>
            <a:r>
              <a:rPr lang="tr-TR">
                <a:ea typeface="+mn-lt"/>
                <a:cs typeface="+mn-lt"/>
              </a:rPr>
              <a:t> (FK), </a:t>
            </a:r>
            <a:r>
              <a:rPr lang="tr-TR" err="1">
                <a:ea typeface="+mn-lt"/>
                <a:cs typeface="+mn-lt"/>
              </a:rPr>
              <a:t>StartAt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EndAt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Status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CreatedAt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ModifiedAt</a:t>
            </a:r>
          </a:p>
          <a:p>
            <a:pPr marL="0" indent="0">
              <a:buNone/>
            </a:pPr>
            <a:br>
              <a:rPr lang="tr-TR">
                <a:ea typeface="+mn-lt"/>
                <a:cs typeface="+mn-lt"/>
              </a:rPr>
            </a:br>
            <a:r>
              <a:rPr lang="tr-TR" b="1" err="1">
                <a:ea typeface="+mn-lt"/>
                <a:cs typeface="+mn-lt"/>
              </a:rPr>
              <a:t>Disease</a:t>
            </a:r>
            <a:r>
              <a:rPr lang="tr-TR" b="1">
                <a:ea typeface="+mn-lt"/>
                <a:cs typeface="+mn-lt"/>
              </a:rPr>
              <a:t>: </a:t>
            </a:r>
            <a:r>
              <a:rPr lang="tr-TR" err="1">
                <a:ea typeface="+mn-lt"/>
                <a:cs typeface="+mn-lt"/>
              </a:rPr>
              <a:t>DiseaseID</a:t>
            </a:r>
            <a:r>
              <a:rPr lang="tr-TR">
                <a:ea typeface="+mn-lt"/>
                <a:cs typeface="+mn-lt"/>
              </a:rPr>
              <a:t> (PK), Name, </a:t>
            </a:r>
            <a:r>
              <a:rPr lang="tr-TR" err="1">
                <a:ea typeface="+mn-lt"/>
                <a:cs typeface="+mn-lt"/>
              </a:rPr>
              <a:t>Description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CreatedAt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ModifiedAt</a:t>
            </a:r>
          </a:p>
          <a:p>
            <a:pPr marL="0" indent="0">
              <a:buNone/>
            </a:pPr>
            <a:br>
              <a:rPr lang="tr-TR">
                <a:ea typeface="+mn-lt"/>
                <a:cs typeface="+mn-lt"/>
              </a:rPr>
            </a:br>
            <a:r>
              <a:rPr lang="tr-TR" b="1" err="1">
                <a:ea typeface="+mn-lt"/>
                <a:cs typeface="+mn-lt"/>
              </a:rPr>
              <a:t>Diagnosis</a:t>
            </a:r>
            <a:r>
              <a:rPr lang="tr-TR" b="1">
                <a:ea typeface="+mn-lt"/>
                <a:cs typeface="+mn-lt"/>
              </a:rPr>
              <a:t>: </a:t>
            </a:r>
            <a:r>
              <a:rPr lang="tr-TR" err="1">
                <a:ea typeface="+mn-lt"/>
                <a:cs typeface="+mn-lt"/>
              </a:rPr>
              <a:t>DiagnosisID</a:t>
            </a:r>
            <a:r>
              <a:rPr lang="tr-TR">
                <a:ea typeface="+mn-lt"/>
                <a:cs typeface="+mn-lt"/>
              </a:rPr>
              <a:t> (PK), </a:t>
            </a:r>
            <a:r>
              <a:rPr lang="tr-TR" err="1">
                <a:ea typeface="+mn-lt"/>
                <a:cs typeface="+mn-lt"/>
              </a:rPr>
              <a:t>AppointmentID</a:t>
            </a:r>
            <a:r>
              <a:rPr lang="tr-TR">
                <a:ea typeface="+mn-lt"/>
                <a:cs typeface="+mn-lt"/>
              </a:rPr>
              <a:t> (FK), </a:t>
            </a:r>
            <a:r>
              <a:rPr lang="tr-TR" err="1">
                <a:ea typeface="+mn-lt"/>
                <a:cs typeface="+mn-lt"/>
              </a:rPr>
              <a:t>DiseaseID</a:t>
            </a:r>
            <a:r>
              <a:rPr lang="tr-TR">
                <a:ea typeface="+mn-lt"/>
                <a:cs typeface="+mn-lt"/>
              </a:rPr>
              <a:t> (FK), </a:t>
            </a:r>
            <a:r>
              <a:rPr lang="tr-TR" err="1">
                <a:ea typeface="+mn-lt"/>
                <a:cs typeface="+mn-lt"/>
              </a:rPr>
              <a:t>Notes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WeightKg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TemperatureC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CreatedAt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ModifiedAt</a:t>
            </a:r>
          </a:p>
          <a:p>
            <a:pPr marL="0" indent="0">
              <a:buNone/>
            </a:pPr>
            <a:br>
              <a:rPr lang="tr-TR">
                <a:ea typeface="+mn-lt"/>
                <a:cs typeface="+mn-lt"/>
              </a:rPr>
            </a:br>
            <a:r>
              <a:rPr lang="tr-TR" b="1" err="1">
                <a:ea typeface="+mn-lt"/>
                <a:cs typeface="+mn-lt"/>
              </a:rPr>
              <a:t>Treatment</a:t>
            </a:r>
            <a:r>
              <a:rPr lang="tr-TR" b="1">
                <a:ea typeface="+mn-lt"/>
                <a:cs typeface="+mn-lt"/>
              </a:rPr>
              <a:t>: </a:t>
            </a:r>
            <a:r>
              <a:rPr lang="tr-TR" err="1">
                <a:ea typeface="+mn-lt"/>
                <a:cs typeface="+mn-lt"/>
              </a:rPr>
              <a:t>TreatmentID</a:t>
            </a:r>
            <a:r>
              <a:rPr lang="tr-TR">
                <a:ea typeface="+mn-lt"/>
                <a:cs typeface="+mn-lt"/>
              </a:rPr>
              <a:t> (PK), Name, </a:t>
            </a:r>
            <a:r>
              <a:rPr lang="tr-TR" err="1">
                <a:ea typeface="+mn-lt"/>
                <a:cs typeface="+mn-lt"/>
              </a:rPr>
              <a:t>Type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UnitPrice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Description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CreatedAt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ModifiedAt</a:t>
            </a:r>
          </a:p>
          <a:p>
            <a:pPr marL="0" indent="0">
              <a:buNone/>
            </a:pPr>
            <a:br>
              <a:rPr lang="tr-TR">
                <a:ea typeface="+mn-lt"/>
                <a:cs typeface="+mn-lt"/>
              </a:rPr>
            </a:br>
            <a:r>
              <a:rPr lang="tr-TR" b="1" err="1">
                <a:ea typeface="+mn-lt"/>
                <a:cs typeface="+mn-lt"/>
              </a:rPr>
              <a:t>Invoice</a:t>
            </a:r>
            <a:r>
              <a:rPr lang="tr-TR" b="1">
                <a:ea typeface="+mn-lt"/>
                <a:cs typeface="+mn-lt"/>
              </a:rPr>
              <a:t>:</a:t>
            </a:r>
            <a:r>
              <a:rPr lang="tr-TR">
                <a:ea typeface="+mn-lt"/>
                <a:cs typeface="+mn-lt"/>
              </a:rPr>
              <a:t> </a:t>
            </a:r>
            <a:r>
              <a:rPr lang="tr-TR" err="1">
                <a:ea typeface="+mn-lt"/>
                <a:cs typeface="+mn-lt"/>
              </a:rPr>
              <a:t>InvoiceID</a:t>
            </a:r>
            <a:r>
              <a:rPr lang="tr-TR">
                <a:ea typeface="+mn-lt"/>
                <a:cs typeface="+mn-lt"/>
              </a:rPr>
              <a:t> (PK), </a:t>
            </a:r>
            <a:r>
              <a:rPr lang="tr-TR" err="1">
                <a:ea typeface="+mn-lt"/>
                <a:cs typeface="+mn-lt"/>
              </a:rPr>
              <a:t>AppointmentID</a:t>
            </a:r>
            <a:r>
              <a:rPr lang="tr-TR">
                <a:ea typeface="+mn-lt"/>
                <a:cs typeface="+mn-lt"/>
              </a:rPr>
              <a:t> (FK), </a:t>
            </a:r>
            <a:r>
              <a:rPr lang="tr-TR" err="1">
                <a:ea typeface="+mn-lt"/>
                <a:cs typeface="+mn-lt"/>
              </a:rPr>
              <a:t>IssueDate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Status</a:t>
            </a:r>
            <a:r>
              <a:rPr lang="tr-TR">
                <a:ea typeface="+mn-lt"/>
                <a:cs typeface="+mn-lt"/>
              </a:rPr>
              <a:t>, Total, </a:t>
            </a:r>
            <a:r>
              <a:rPr lang="tr-TR" err="1">
                <a:ea typeface="+mn-lt"/>
                <a:cs typeface="+mn-lt"/>
              </a:rPr>
              <a:t>CreatedAt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ModifiedAt</a:t>
            </a:r>
          </a:p>
          <a:p>
            <a:pPr marL="0" indent="0">
              <a:buNone/>
            </a:pPr>
            <a:br>
              <a:rPr lang="tr-TR">
                <a:ea typeface="+mn-lt"/>
                <a:cs typeface="+mn-lt"/>
              </a:rPr>
            </a:br>
            <a:r>
              <a:rPr lang="tr-TR" b="1" err="1">
                <a:ea typeface="+mn-lt"/>
                <a:cs typeface="+mn-lt"/>
              </a:rPr>
              <a:t>InvoiceItem</a:t>
            </a:r>
            <a:r>
              <a:rPr lang="tr-TR" b="1">
                <a:ea typeface="+mn-lt"/>
                <a:cs typeface="+mn-lt"/>
              </a:rPr>
              <a:t> (</a:t>
            </a:r>
            <a:r>
              <a:rPr lang="tr-TR" b="1" err="1">
                <a:ea typeface="+mn-lt"/>
                <a:cs typeface="+mn-lt"/>
              </a:rPr>
              <a:t>Weak</a:t>
            </a:r>
            <a:r>
              <a:rPr lang="tr-TR" b="1">
                <a:ea typeface="+mn-lt"/>
                <a:cs typeface="+mn-lt"/>
              </a:rPr>
              <a:t> </a:t>
            </a:r>
            <a:r>
              <a:rPr lang="tr-TR" b="1" err="1">
                <a:ea typeface="+mn-lt"/>
                <a:cs typeface="+mn-lt"/>
              </a:rPr>
              <a:t>Entity</a:t>
            </a:r>
            <a:r>
              <a:rPr lang="tr-TR" b="1">
                <a:ea typeface="+mn-lt"/>
                <a:cs typeface="+mn-lt"/>
              </a:rPr>
              <a:t>):</a:t>
            </a:r>
            <a:r>
              <a:rPr lang="tr-TR">
                <a:ea typeface="+mn-lt"/>
                <a:cs typeface="+mn-lt"/>
              </a:rPr>
              <a:t> </a:t>
            </a:r>
            <a:r>
              <a:rPr lang="tr-TR" err="1">
                <a:ea typeface="+mn-lt"/>
                <a:cs typeface="+mn-lt"/>
              </a:rPr>
              <a:t>ItemID</a:t>
            </a:r>
            <a:r>
              <a:rPr lang="tr-TR">
                <a:ea typeface="+mn-lt"/>
                <a:cs typeface="+mn-lt"/>
              </a:rPr>
              <a:t> (PK), </a:t>
            </a:r>
            <a:r>
              <a:rPr lang="tr-TR" err="1">
                <a:ea typeface="+mn-lt"/>
                <a:cs typeface="+mn-lt"/>
              </a:rPr>
              <a:t>InvoiceID</a:t>
            </a:r>
            <a:r>
              <a:rPr lang="tr-TR">
                <a:ea typeface="+mn-lt"/>
                <a:cs typeface="+mn-lt"/>
              </a:rPr>
              <a:t> (FK), </a:t>
            </a:r>
            <a:r>
              <a:rPr lang="tr-TR" err="1">
                <a:ea typeface="+mn-lt"/>
                <a:cs typeface="+mn-lt"/>
              </a:rPr>
              <a:t>TreatmentID</a:t>
            </a:r>
            <a:r>
              <a:rPr lang="tr-TR">
                <a:ea typeface="+mn-lt"/>
                <a:cs typeface="+mn-lt"/>
              </a:rPr>
              <a:t> (FK, </a:t>
            </a:r>
            <a:r>
              <a:rPr lang="tr-TR" err="1">
                <a:ea typeface="+mn-lt"/>
                <a:cs typeface="+mn-lt"/>
              </a:rPr>
              <a:t>nullable</a:t>
            </a:r>
            <a:r>
              <a:rPr lang="tr-TR">
                <a:ea typeface="+mn-lt"/>
                <a:cs typeface="+mn-lt"/>
              </a:rPr>
              <a:t>), </a:t>
            </a:r>
            <a:r>
              <a:rPr lang="tr-TR" err="1">
                <a:ea typeface="+mn-lt"/>
                <a:cs typeface="+mn-lt"/>
              </a:rPr>
              <a:t>Description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Quantity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UnitPrice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LineTotal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CreatedAt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ModifiedAt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83640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2BC7942-7D04-82F5-96D3-A1FCB5F58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Cardinality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Modality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168D135-9F87-9441-5773-58CF0BCAE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350"/>
            <a:ext cx="10515600" cy="4981957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tr-TR" b="1" err="1">
                <a:ea typeface="+mn-lt"/>
                <a:cs typeface="+mn-lt"/>
              </a:rPr>
              <a:t>Owner</a:t>
            </a:r>
            <a:r>
              <a:rPr lang="tr-TR" b="1" dirty="0">
                <a:ea typeface="+mn-lt"/>
                <a:cs typeface="+mn-lt"/>
              </a:rPr>
              <a:t>–</a:t>
            </a:r>
            <a:r>
              <a:rPr lang="tr-TR" b="1" err="1">
                <a:ea typeface="+mn-lt"/>
                <a:cs typeface="+mn-lt"/>
              </a:rPr>
              <a:t>Animal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 1:N → </a:t>
            </a:r>
            <a:r>
              <a:rPr lang="tr-TR" err="1">
                <a:ea typeface="+mn-lt"/>
                <a:cs typeface="+mn-lt"/>
              </a:rPr>
              <a:t>One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owner</a:t>
            </a:r>
            <a:r>
              <a:rPr lang="tr-TR" dirty="0">
                <a:ea typeface="+mn-lt"/>
                <a:cs typeface="+mn-lt"/>
              </a:rPr>
              <a:t> can </a:t>
            </a:r>
            <a:r>
              <a:rPr lang="tr-TR" err="1">
                <a:ea typeface="+mn-lt"/>
                <a:cs typeface="+mn-lt"/>
              </a:rPr>
              <a:t>have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many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animals</a:t>
            </a:r>
            <a:r>
              <a:rPr lang="tr-TR" dirty="0">
                <a:ea typeface="+mn-lt"/>
                <a:cs typeface="+mn-lt"/>
              </a:rPr>
              <a:t>. </a:t>
            </a:r>
            <a:r>
              <a:rPr lang="tr-TR" err="1">
                <a:ea typeface="+mn-lt"/>
                <a:cs typeface="+mn-lt"/>
              </a:rPr>
              <a:t>Each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animal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must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belong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to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one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owner</a:t>
            </a:r>
            <a:r>
              <a:rPr lang="tr-TR" dirty="0">
                <a:ea typeface="+mn-lt"/>
                <a:cs typeface="+mn-lt"/>
              </a:rPr>
              <a:t>.</a:t>
            </a:r>
            <a:endParaRPr lang="tr-TR" dirty="0"/>
          </a:p>
          <a:p>
            <a:pPr marL="0" indent="0">
              <a:buNone/>
            </a:pPr>
            <a:endParaRPr lang="tr-TR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tr-TR" b="1" err="1">
                <a:ea typeface="+mn-lt"/>
                <a:cs typeface="+mn-lt"/>
              </a:rPr>
              <a:t>Animal</a:t>
            </a:r>
            <a:r>
              <a:rPr lang="tr-TR" b="1" dirty="0">
                <a:ea typeface="+mn-lt"/>
                <a:cs typeface="+mn-lt"/>
              </a:rPr>
              <a:t>–</a:t>
            </a:r>
            <a:r>
              <a:rPr lang="tr-TR" b="1" err="1">
                <a:ea typeface="+mn-lt"/>
                <a:cs typeface="+mn-lt"/>
              </a:rPr>
              <a:t>Appointment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 1:N → </a:t>
            </a:r>
            <a:r>
              <a:rPr lang="tr-TR" err="1">
                <a:ea typeface="+mn-lt"/>
                <a:cs typeface="+mn-lt"/>
              </a:rPr>
              <a:t>One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animal</a:t>
            </a:r>
            <a:r>
              <a:rPr lang="tr-TR" dirty="0">
                <a:ea typeface="+mn-lt"/>
                <a:cs typeface="+mn-lt"/>
              </a:rPr>
              <a:t> can </a:t>
            </a:r>
            <a:r>
              <a:rPr lang="tr-TR" err="1">
                <a:ea typeface="+mn-lt"/>
                <a:cs typeface="+mn-lt"/>
              </a:rPr>
              <a:t>have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many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appointments</a:t>
            </a:r>
            <a:r>
              <a:rPr lang="tr-TR" dirty="0">
                <a:ea typeface="+mn-lt"/>
                <a:cs typeface="+mn-lt"/>
              </a:rPr>
              <a:t>; </a:t>
            </a:r>
            <a:r>
              <a:rPr lang="tr-TR" err="1">
                <a:ea typeface="+mn-lt"/>
                <a:cs typeface="+mn-lt"/>
              </a:rPr>
              <a:t>each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appointment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belongs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to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one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animal</a:t>
            </a:r>
            <a:r>
              <a:rPr lang="tr-TR" dirty="0">
                <a:ea typeface="+mn-lt"/>
                <a:cs typeface="+mn-lt"/>
              </a:rPr>
              <a:t>.</a:t>
            </a:r>
            <a:endParaRPr lang="tr-TR" dirty="0"/>
          </a:p>
          <a:p>
            <a:pPr marL="0" indent="0">
              <a:buNone/>
            </a:pPr>
            <a:endParaRPr lang="tr-TR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tr-TR" b="1" dirty="0" err="1">
                <a:ea typeface="+mn-lt"/>
                <a:cs typeface="+mn-lt"/>
              </a:rPr>
              <a:t>Veterinarian</a:t>
            </a:r>
            <a:r>
              <a:rPr lang="tr-TR" b="1" dirty="0">
                <a:ea typeface="+mn-lt"/>
                <a:cs typeface="+mn-lt"/>
              </a:rPr>
              <a:t>–</a:t>
            </a:r>
            <a:r>
              <a:rPr lang="tr-TR" b="1" dirty="0" err="1">
                <a:ea typeface="+mn-lt"/>
                <a:cs typeface="+mn-lt"/>
              </a:rPr>
              <a:t>Appointment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 1:N → </a:t>
            </a:r>
            <a:r>
              <a:rPr lang="tr-TR" dirty="0" err="1">
                <a:ea typeface="+mn-lt"/>
                <a:cs typeface="+mn-lt"/>
              </a:rPr>
              <a:t>One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vet</a:t>
            </a:r>
            <a:r>
              <a:rPr lang="tr-TR" dirty="0">
                <a:ea typeface="+mn-lt"/>
                <a:cs typeface="+mn-lt"/>
              </a:rPr>
              <a:t> can </a:t>
            </a:r>
            <a:r>
              <a:rPr lang="tr-TR" dirty="0" err="1">
                <a:ea typeface="+mn-lt"/>
                <a:cs typeface="+mn-lt"/>
              </a:rPr>
              <a:t>have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many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appointments</a:t>
            </a:r>
            <a:r>
              <a:rPr lang="tr-TR" dirty="0">
                <a:ea typeface="+mn-lt"/>
                <a:cs typeface="+mn-lt"/>
              </a:rPr>
              <a:t>; </a:t>
            </a:r>
            <a:r>
              <a:rPr lang="tr-TR" dirty="0" err="1">
                <a:ea typeface="+mn-lt"/>
                <a:cs typeface="+mn-lt"/>
              </a:rPr>
              <a:t>each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appointment</a:t>
            </a:r>
            <a:r>
              <a:rPr lang="tr-TR" dirty="0">
                <a:ea typeface="+mn-lt"/>
                <a:cs typeface="+mn-lt"/>
              </a:rPr>
              <a:t> has </a:t>
            </a:r>
            <a:r>
              <a:rPr lang="tr-TR" dirty="0" err="1">
                <a:ea typeface="+mn-lt"/>
                <a:cs typeface="+mn-lt"/>
              </a:rPr>
              <a:t>one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vet.</a:t>
            </a:r>
            <a:endParaRPr lang="tr-TR" dirty="0"/>
          </a:p>
          <a:p>
            <a:pPr marL="0" indent="0">
              <a:buNone/>
            </a:pPr>
            <a:endParaRPr lang="tr-TR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tr-TR" b="1" err="1">
                <a:ea typeface="+mn-lt"/>
                <a:cs typeface="+mn-lt"/>
              </a:rPr>
              <a:t>Appointment</a:t>
            </a:r>
            <a:r>
              <a:rPr lang="tr-TR" b="1" dirty="0">
                <a:ea typeface="+mn-lt"/>
                <a:cs typeface="+mn-lt"/>
              </a:rPr>
              <a:t>–</a:t>
            </a:r>
            <a:r>
              <a:rPr lang="tr-TR" b="1" err="1">
                <a:ea typeface="+mn-lt"/>
                <a:cs typeface="+mn-lt"/>
              </a:rPr>
              <a:t>Diagnosis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 1:0..1 → An </a:t>
            </a:r>
            <a:r>
              <a:rPr lang="tr-TR" err="1">
                <a:ea typeface="+mn-lt"/>
                <a:cs typeface="+mn-lt"/>
              </a:rPr>
              <a:t>appointment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may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have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one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diagnosis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or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none</a:t>
            </a:r>
            <a:r>
              <a:rPr lang="tr-TR" dirty="0">
                <a:ea typeface="+mn-lt"/>
                <a:cs typeface="+mn-lt"/>
              </a:rPr>
              <a:t>.</a:t>
            </a:r>
            <a:endParaRPr lang="tr-TR" dirty="0"/>
          </a:p>
          <a:p>
            <a:pPr marL="0" indent="0">
              <a:buNone/>
            </a:pPr>
            <a:endParaRPr lang="tr-TR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tr-TR" b="1" err="1">
                <a:ea typeface="+mn-lt"/>
                <a:cs typeface="+mn-lt"/>
              </a:rPr>
              <a:t>Disease</a:t>
            </a:r>
            <a:r>
              <a:rPr lang="tr-TR" b="1" dirty="0">
                <a:ea typeface="+mn-lt"/>
                <a:cs typeface="+mn-lt"/>
              </a:rPr>
              <a:t>–</a:t>
            </a:r>
            <a:r>
              <a:rPr lang="tr-TR" b="1" err="1">
                <a:ea typeface="+mn-lt"/>
                <a:cs typeface="+mn-lt"/>
              </a:rPr>
              <a:t>Diagnosis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 1:N → </a:t>
            </a:r>
            <a:r>
              <a:rPr lang="tr-TR" err="1">
                <a:ea typeface="+mn-lt"/>
                <a:cs typeface="+mn-lt"/>
              </a:rPr>
              <a:t>Each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disease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may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appear</a:t>
            </a:r>
            <a:r>
              <a:rPr lang="tr-TR" dirty="0">
                <a:ea typeface="+mn-lt"/>
                <a:cs typeface="+mn-lt"/>
              </a:rPr>
              <a:t> in </a:t>
            </a:r>
            <a:r>
              <a:rPr lang="tr-TR" err="1">
                <a:ea typeface="+mn-lt"/>
                <a:cs typeface="+mn-lt"/>
              </a:rPr>
              <a:t>many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diagnoses</a:t>
            </a:r>
            <a:r>
              <a:rPr lang="tr-TR" dirty="0">
                <a:ea typeface="+mn-lt"/>
                <a:cs typeface="+mn-lt"/>
              </a:rPr>
              <a:t>.</a:t>
            </a:r>
            <a:endParaRPr lang="tr-TR" dirty="0"/>
          </a:p>
          <a:p>
            <a:pPr marL="0" indent="0">
              <a:buNone/>
            </a:pPr>
            <a:endParaRPr lang="tr-TR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tr-TR" b="1" err="1">
                <a:ea typeface="+mn-lt"/>
                <a:cs typeface="+mn-lt"/>
              </a:rPr>
              <a:t>Appointment</a:t>
            </a:r>
            <a:r>
              <a:rPr lang="tr-TR" b="1" dirty="0">
                <a:ea typeface="+mn-lt"/>
                <a:cs typeface="+mn-lt"/>
              </a:rPr>
              <a:t>–</a:t>
            </a:r>
            <a:r>
              <a:rPr lang="tr-TR" b="1" err="1">
                <a:ea typeface="+mn-lt"/>
                <a:cs typeface="+mn-lt"/>
              </a:rPr>
              <a:t>Invoice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 1:1 → </a:t>
            </a:r>
            <a:r>
              <a:rPr lang="tr-TR" err="1">
                <a:ea typeface="+mn-lt"/>
                <a:cs typeface="+mn-lt"/>
              </a:rPr>
              <a:t>Every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appointment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generates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one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invoice</a:t>
            </a:r>
            <a:r>
              <a:rPr lang="tr-TR" dirty="0">
                <a:ea typeface="+mn-lt"/>
                <a:cs typeface="+mn-lt"/>
              </a:rPr>
              <a:t>.</a:t>
            </a:r>
            <a:endParaRPr lang="tr-TR" dirty="0"/>
          </a:p>
          <a:p>
            <a:pPr marL="0" indent="0">
              <a:buNone/>
            </a:pPr>
            <a:endParaRPr lang="tr-TR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tr-TR" b="1" dirty="0" err="1">
                <a:ea typeface="+mn-lt"/>
                <a:cs typeface="+mn-lt"/>
              </a:rPr>
              <a:t>Invoice</a:t>
            </a:r>
            <a:r>
              <a:rPr lang="tr-TR" b="1" dirty="0">
                <a:ea typeface="+mn-lt"/>
                <a:cs typeface="+mn-lt"/>
              </a:rPr>
              <a:t>–</a:t>
            </a:r>
            <a:r>
              <a:rPr lang="tr-TR" b="1" dirty="0" err="1">
                <a:ea typeface="+mn-lt"/>
                <a:cs typeface="+mn-lt"/>
              </a:rPr>
              <a:t>InvoiceItem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 1:N → </a:t>
            </a:r>
            <a:r>
              <a:rPr lang="tr-TR" dirty="0" err="1">
                <a:ea typeface="+mn-lt"/>
                <a:cs typeface="+mn-lt"/>
              </a:rPr>
              <a:t>One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invoice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contains</a:t>
            </a:r>
            <a:r>
              <a:rPr lang="tr-TR" dirty="0">
                <a:ea typeface="+mn-lt"/>
                <a:cs typeface="+mn-lt"/>
              </a:rPr>
              <a:t> multiple </a:t>
            </a:r>
            <a:r>
              <a:rPr lang="tr-TR" dirty="0" err="1">
                <a:ea typeface="+mn-lt"/>
                <a:cs typeface="+mn-lt"/>
              </a:rPr>
              <a:t>items</a:t>
            </a:r>
            <a:r>
              <a:rPr lang="tr-TR" dirty="0">
                <a:ea typeface="+mn-lt"/>
                <a:cs typeface="+mn-lt"/>
              </a:rPr>
              <a:t> (</a:t>
            </a:r>
            <a:r>
              <a:rPr lang="tr-TR" dirty="0" err="1">
                <a:ea typeface="+mn-lt"/>
                <a:cs typeface="+mn-lt"/>
              </a:rPr>
              <a:t>weak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entity</a:t>
            </a:r>
            <a:r>
              <a:rPr lang="tr-TR" dirty="0">
                <a:ea typeface="+mn-lt"/>
                <a:cs typeface="+mn-lt"/>
              </a:rPr>
              <a:t>).</a:t>
            </a:r>
            <a:endParaRPr lang="tr-TR" dirty="0"/>
          </a:p>
          <a:p>
            <a:pPr marL="0" indent="0">
              <a:buNone/>
            </a:pPr>
            <a:endParaRPr lang="tr-TR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tr-TR" b="1" err="1">
                <a:ea typeface="+mn-lt"/>
                <a:cs typeface="+mn-lt"/>
              </a:rPr>
              <a:t>Treatment</a:t>
            </a:r>
            <a:r>
              <a:rPr lang="tr-TR" b="1" dirty="0">
                <a:ea typeface="+mn-lt"/>
                <a:cs typeface="+mn-lt"/>
              </a:rPr>
              <a:t>–</a:t>
            </a:r>
            <a:r>
              <a:rPr lang="tr-TR" b="1" err="1">
                <a:ea typeface="+mn-lt"/>
                <a:cs typeface="+mn-lt"/>
              </a:rPr>
              <a:t>InvoiceItem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 1:N (</a:t>
            </a:r>
            <a:r>
              <a:rPr lang="tr-TR" err="1">
                <a:ea typeface="+mn-lt"/>
                <a:cs typeface="+mn-lt"/>
              </a:rPr>
              <a:t>optional</a:t>
            </a:r>
            <a:r>
              <a:rPr lang="tr-TR" dirty="0">
                <a:ea typeface="+mn-lt"/>
                <a:cs typeface="+mn-lt"/>
              </a:rPr>
              <a:t>) → A </a:t>
            </a:r>
            <a:r>
              <a:rPr lang="tr-TR" err="1">
                <a:ea typeface="+mn-lt"/>
                <a:cs typeface="+mn-lt"/>
              </a:rPr>
              <a:t>treatment</a:t>
            </a:r>
            <a:r>
              <a:rPr lang="tr-TR" dirty="0">
                <a:ea typeface="+mn-lt"/>
                <a:cs typeface="+mn-lt"/>
              </a:rPr>
              <a:t> can </a:t>
            </a:r>
            <a:r>
              <a:rPr lang="tr-TR" err="1">
                <a:ea typeface="+mn-lt"/>
                <a:cs typeface="+mn-lt"/>
              </a:rPr>
              <a:t>appear</a:t>
            </a:r>
            <a:r>
              <a:rPr lang="tr-TR" dirty="0">
                <a:ea typeface="+mn-lt"/>
                <a:cs typeface="+mn-lt"/>
              </a:rPr>
              <a:t> in </a:t>
            </a:r>
            <a:r>
              <a:rPr lang="tr-TR" err="1">
                <a:ea typeface="+mn-lt"/>
                <a:cs typeface="+mn-lt"/>
              </a:rPr>
              <a:t>many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items</a:t>
            </a:r>
            <a:r>
              <a:rPr lang="tr-TR" dirty="0">
                <a:ea typeface="+mn-lt"/>
                <a:cs typeface="+mn-lt"/>
              </a:rPr>
              <a:t>; </a:t>
            </a:r>
            <a:r>
              <a:rPr lang="tr-TR" err="1">
                <a:ea typeface="+mn-lt"/>
                <a:cs typeface="+mn-lt"/>
              </a:rPr>
              <a:t>linking</a:t>
            </a:r>
            <a:r>
              <a:rPr lang="tr-TR" dirty="0">
                <a:ea typeface="+mn-lt"/>
                <a:cs typeface="+mn-lt"/>
              </a:rPr>
              <a:t> is </a:t>
            </a:r>
            <a:r>
              <a:rPr lang="tr-TR" err="1">
                <a:ea typeface="+mn-lt"/>
                <a:cs typeface="+mn-lt"/>
              </a:rPr>
              <a:t>optional</a:t>
            </a:r>
            <a:r>
              <a:rPr lang="tr-TR" dirty="0">
                <a:ea typeface="+mn-lt"/>
                <a:cs typeface="+mn-lt"/>
              </a:rPr>
              <a:t>.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90780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E582B9C-F756-68C0-0696-F476BDA1A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000" err="1">
                <a:latin typeface="Aptos"/>
              </a:rPr>
              <a:t>System</a:t>
            </a:r>
            <a:r>
              <a:rPr lang="tr-TR" sz="4000" dirty="0"/>
              <a:t> </a:t>
            </a:r>
            <a:r>
              <a:rPr lang="tr-TR" sz="4000" err="1"/>
              <a:t>requirements</a:t>
            </a:r>
            <a:r>
              <a:rPr lang="tr-TR" sz="4000" dirty="0"/>
              <a:t> </a:t>
            </a:r>
            <a:r>
              <a:rPr lang="tr-TR" sz="4000" err="1"/>
              <a:t>and</a:t>
            </a:r>
            <a:r>
              <a:rPr lang="tr-TR" sz="4000" dirty="0"/>
              <a:t> </a:t>
            </a:r>
            <a:r>
              <a:rPr lang="tr-TR" sz="4000" err="1"/>
              <a:t>key</a:t>
            </a:r>
            <a:r>
              <a:rPr lang="tr-TR" sz="4000" dirty="0"/>
              <a:t> </a:t>
            </a:r>
            <a:r>
              <a:rPr lang="tr-TR" sz="4000" err="1"/>
              <a:t>functions</a:t>
            </a:r>
            <a:endParaRPr lang="tr-TR" sz="400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DBDA52A-57EB-A7E0-783D-2AB0259E1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sz="1800" b="1" dirty="0">
                <a:ea typeface="+mn-lt"/>
                <a:cs typeface="+mn-lt"/>
              </a:rPr>
              <a:t>•  </a:t>
            </a:r>
            <a:r>
              <a:rPr lang="tr-TR" sz="1800" b="1" dirty="0" err="1">
                <a:ea typeface="+mn-lt"/>
                <a:cs typeface="+mn-lt"/>
              </a:rPr>
              <a:t>Patient</a:t>
            </a:r>
            <a:r>
              <a:rPr lang="tr-TR" sz="1800" b="1" dirty="0">
                <a:ea typeface="+mn-lt"/>
                <a:cs typeface="+mn-lt"/>
              </a:rPr>
              <a:t> &amp; </a:t>
            </a:r>
            <a:r>
              <a:rPr lang="tr-TR" sz="1800" b="1" dirty="0" err="1">
                <a:ea typeface="+mn-lt"/>
                <a:cs typeface="+mn-lt"/>
              </a:rPr>
              <a:t>Owner</a:t>
            </a:r>
            <a:r>
              <a:rPr lang="tr-TR" sz="1800" b="1" dirty="0">
                <a:ea typeface="+mn-lt"/>
                <a:cs typeface="+mn-lt"/>
              </a:rPr>
              <a:t> Management:</a:t>
            </a:r>
            <a:r>
              <a:rPr lang="tr-TR" sz="1800" dirty="0">
                <a:ea typeface="+mn-lt"/>
                <a:cs typeface="+mn-lt"/>
              </a:rPr>
              <a:t> </a:t>
            </a:r>
            <a:r>
              <a:rPr lang="tr-TR" sz="1800" dirty="0" err="1">
                <a:ea typeface="+mn-lt"/>
                <a:cs typeface="+mn-lt"/>
              </a:rPr>
              <a:t>Registration</a:t>
            </a:r>
            <a:r>
              <a:rPr lang="tr-TR" sz="1800" dirty="0">
                <a:ea typeface="+mn-lt"/>
                <a:cs typeface="+mn-lt"/>
              </a:rPr>
              <a:t> </a:t>
            </a:r>
            <a:r>
              <a:rPr lang="tr-TR" sz="1800" dirty="0" err="1">
                <a:ea typeface="+mn-lt"/>
                <a:cs typeface="+mn-lt"/>
              </a:rPr>
              <a:t>and</a:t>
            </a:r>
            <a:r>
              <a:rPr lang="tr-TR" sz="1800" dirty="0">
                <a:ea typeface="+mn-lt"/>
                <a:cs typeface="+mn-lt"/>
              </a:rPr>
              <a:t> </a:t>
            </a:r>
            <a:r>
              <a:rPr lang="tr-TR" sz="1800" dirty="0" err="1">
                <a:ea typeface="+mn-lt"/>
                <a:cs typeface="+mn-lt"/>
              </a:rPr>
              <a:t>tracking</a:t>
            </a:r>
            <a:r>
              <a:rPr lang="tr-TR" sz="1800" dirty="0">
                <a:ea typeface="+mn-lt"/>
                <a:cs typeface="+mn-lt"/>
              </a:rPr>
              <a:t> of </a:t>
            </a:r>
            <a:r>
              <a:rPr lang="tr-TR" sz="1800" dirty="0" err="1">
                <a:ea typeface="+mn-lt"/>
                <a:cs typeface="+mn-lt"/>
              </a:rPr>
              <a:t>pets</a:t>
            </a:r>
            <a:r>
              <a:rPr lang="tr-TR" sz="1800" dirty="0">
                <a:ea typeface="+mn-lt"/>
                <a:cs typeface="+mn-lt"/>
              </a:rPr>
              <a:t> (</a:t>
            </a:r>
            <a:r>
              <a:rPr lang="tr-TR" sz="1800" dirty="0" err="1">
                <a:latin typeface="Consolas"/>
              </a:rPr>
              <a:t>Animal</a:t>
            </a:r>
            <a:r>
              <a:rPr lang="tr-TR" sz="1800" dirty="0">
                <a:ea typeface="+mn-lt"/>
                <a:cs typeface="+mn-lt"/>
              </a:rPr>
              <a:t>) </a:t>
            </a:r>
            <a:r>
              <a:rPr lang="tr-TR" sz="1800" dirty="0" err="1">
                <a:ea typeface="+mn-lt"/>
                <a:cs typeface="+mn-lt"/>
              </a:rPr>
              <a:t>and</a:t>
            </a:r>
            <a:r>
              <a:rPr lang="tr-TR" sz="1800" dirty="0">
                <a:ea typeface="+mn-lt"/>
                <a:cs typeface="+mn-lt"/>
              </a:rPr>
              <a:t> </a:t>
            </a:r>
            <a:r>
              <a:rPr lang="tr-TR" sz="1800" dirty="0" err="1">
                <a:ea typeface="+mn-lt"/>
                <a:cs typeface="+mn-lt"/>
              </a:rPr>
              <a:t>their</a:t>
            </a:r>
            <a:r>
              <a:rPr lang="tr-TR" sz="1800" dirty="0">
                <a:ea typeface="+mn-lt"/>
                <a:cs typeface="+mn-lt"/>
              </a:rPr>
              <a:t> </a:t>
            </a:r>
            <a:r>
              <a:rPr lang="tr-TR" sz="1800" dirty="0" err="1">
                <a:ea typeface="+mn-lt"/>
                <a:cs typeface="+mn-lt"/>
              </a:rPr>
              <a:t>owners</a:t>
            </a:r>
            <a:r>
              <a:rPr lang="tr-TR" sz="1800" dirty="0">
                <a:ea typeface="+mn-lt"/>
                <a:cs typeface="+mn-lt"/>
              </a:rPr>
              <a:t> (</a:t>
            </a:r>
            <a:r>
              <a:rPr lang="tr-TR" sz="1800" dirty="0" err="1">
                <a:latin typeface="Consolas"/>
              </a:rPr>
              <a:t>Owner</a:t>
            </a:r>
            <a:r>
              <a:rPr lang="tr-TR" sz="1800" dirty="0">
                <a:ea typeface="+mn-lt"/>
                <a:cs typeface="+mn-lt"/>
              </a:rPr>
              <a:t>).</a:t>
            </a:r>
            <a:endParaRPr lang="en-US"/>
          </a:p>
          <a:p>
            <a:pPr marL="0" indent="0">
              <a:buNone/>
            </a:pPr>
            <a:r>
              <a:rPr lang="tr-TR" sz="1800" dirty="0"/>
              <a:t>•  </a:t>
            </a:r>
            <a:r>
              <a:rPr lang="tr-TR" sz="1800" dirty="0">
                <a:ea typeface="+mn-lt"/>
                <a:cs typeface="+mn-lt"/>
              </a:rPr>
              <a:t> </a:t>
            </a:r>
            <a:r>
              <a:rPr lang="tr-TR" sz="1800" b="1" dirty="0" err="1">
                <a:ea typeface="+mn-lt"/>
                <a:cs typeface="+mn-lt"/>
              </a:rPr>
              <a:t>Appointment</a:t>
            </a:r>
            <a:r>
              <a:rPr lang="tr-TR" sz="1800" b="1" dirty="0">
                <a:ea typeface="+mn-lt"/>
                <a:cs typeface="+mn-lt"/>
              </a:rPr>
              <a:t> </a:t>
            </a:r>
            <a:r>
              <a:rPr lang="tr-TR" sz="1800" b="1" dirty="0" err="1">
                <a:ea typeface="+mn-lt"/>
                <a:cs typeface="+mn-lt"/>
              </a:rPr>
              <a:t>Scheduling</a:t>
            </a:r>
            <a:r>
              <a:rPr lang="tr-TR" sz="1800" b="1" dirty="0">
                <a:ea typeface="+mn-lt"/>
                <a:cs typeface="+mn-lt"/>
              </a:rPr>
              <a:t>:</a:t>
            </a:r>
            <a:r>
              <a:rPr lang="tr-TR" sz="1800" dirty="0">
                <a:ea typeface="+mn-lt"/>
                <a:cs typeface="+mn-lt"/>
              </a:rPr>
              <a:t> </a:t>
            </a:r>
            <a:r>
              <a:rPr lang="tr-TR" sz="1800" dirty="0" err="1">
                <a:ea typeface="+mn-lt"/>
                <a:cs typeface="+mn-lt"/>
              </a:rPr>
              <a:t>Calendar</a:t>
            </a:r>
            <a:r>
              <a:rPr lang="tr-TR" sz="1800" dirty="0">
                <a:ea typeface="+mn-lt"/>
                <a:cs typeface="+mn-lt"/>
              </a:rPr>
              <a:t> </a:t>
            </a:r>
            <a:r>
              <a:rPr lang="tr-TR" sz="1800" dirty="0" err="1">
                <a:ea typeface="+mn-lt"/>
                <a:cs typeface="+mn-lt"/>
              </a:rPr>
              <a:t>management</a:t>
            </a:r>
            <a:r>
              <a:rPr lang="tr-TR" sz="1800" dirty="0">
                <a:ea typeface="+mn-lt"/>
                <a:cs typeface="+mn-lt"/>
              </a:rPr>
              <a:t> </a:t>
            </a:r>
            <a:r>
              <a:rPr lang="tr-TR" sz="1800" dirty="0" err="1">
                <a:ea typeface="+mn-lt"/>
                <a:cs typeface="+mn-lt"/>
              </a:rPr>
              <a:t>for</a:t>
            </a:r>
            <a:r>
              <a:rPr lang="tr-TR" sz="1800" dirty="0">
                <a:ea typeface="+mn-lt"/>
                <a:cs typeface="+mn-lt"/>
              </a:rPr>
              <a:t> </a:t>
            </a:r>
            <a:r>
              <a:rPr lang="tr-TR" sz="1800" dirty="0" err="1">
                <a:ea typeface="+mn-lt"/>
                <a:cs typeface="+mn-lt"/>
              </a:rPr>
              <a:t>vets</a:t>
            </a:r>
            <a:r>
              <a:rPr lang="tr-TR" sz="1800" dirty="0">
                <a:ea typeface="+mn-lt"/>
                <a:cs typeface="+mn-lt"/>
              </a:rPr>
              <a:t>, </a:t>
            </a:r>
            <a:r>
              <a:rPr lang="tr-TR" sz="1800" dirty="0" err="1">
                <a:ea typeface="+mn-lt"/>
                <a:cs typeface="+mn-lt"/>
              </a:rPr>
              <a:t>with</a:t>
            </a:r>
            <a:r>
              <a:rPr lang="tr-TR" sz="1800" dirty="0">
                <a:ea typeface="+mn-lt"/>
                <a:cs typeface="+mn-lt"/>
              </a:rPr>
              <a:t> </a:t>
            </a:r>
            <a:r>
              <a:rPr lang="tr-TR" sz="1800" dirty="0" err="1">
                <a:ea typeface="+mn-lt"/>
                <a:cs typeface="+mn-lt"/>
              </a:rPr>
              <a:t>the</a:t>
            </a:r>
            <a:r>
              <a:rPr lang="tr-TR" sz="1800" dirty="0">
                <a:ea typeface="+mn-lt"/>
                <a:cs typeface="+mn-lt"/>
              </a:rPr>
              <a:t> </a:t>
            </a:r>
            <a:r>
              <a:rPr lang="tr-TR" sz="1800" dirty="0" err="1">
                <a:ea typeface="+mn-lt"/>
                <a:cs typeface="+mn-lt"/>
              </a:rPr>
              <a:t>ability</a:t>
            </a:r>
            <a:r>
              <a:rPr lang="tr-TR" sz="1800" dirty="0">
                <a:ea typeface="+mn-lt"/>
                <a:cs typeface="+mn-lt"/>
              </a:rPr>
              <a:t> </a:t>
            </a:r>
            <a:r>
              <a:rPr lang="tr-TR" sz="1800" dirty="0" err="1">
                <a:ea typeface="+mn-lt"/>
                <a:cs typeface="+mn-lt"/>
              </a:rPr>
              <a:t>to</a:t>
            </a:r>
            <a:r>
              <a:rPr lang="tr-TR" sz="1800" dirty="0">
                <a:ea typeface="+mn-lt"/>
                <a:cs typeface="+mn-lt"/>
              </a:rPr>
              <a:t> </a:t>
            </a:r>
            <a:r>
              <a:rPr lang="tr-TR" sz="1800" dirty="0" err="1">
                <a:ea typeface="+mn-lt"/>
                <a:cs typeface="+mn-lt"/>
              </a:rPr>
              <a:t>create</a:t>
            </a:r>
            <a:r>
              <a:rPr lang="tr-TR" sz="1800" dirty="0">
                <a:ea typeface="+mn-lt"/>
                <a:cs typeface="+mn-lt"/>
              </a:rPr>
              <a:t>, </a:t>
            </a:r>
            <a:r>
              <a:rPr lang="tr-TR" sz="1800" dirty="0" err="1">
                <a:ea typeface="+mn-lt"/>
                <a:cs typeface="+mn-lt"/>
              </a:rPr>
              <a:t>confirm</a:t>
            </a:r>
            <a:r>
              <a:rPr lang="tr-TR" sz="1800" dirty="0">
                <a:ea typeface="+mn-lt"/>
                <a:cs typeface="+mn-lt"/>
              </a:rPr>
              <a:t>, </a:t>
            </a:r>
            <a:r>
              <a:rPr lang="tr-TR" sz="1800" dirty="0" err="1">
                <a:ea typeface="+mn-lt"/>
                <a:cs typeface="+mn-lt"/>
              </a:rPr>
              <a:t>and</a:t>
            </a:r>
            <a:r>
              <a:rPr lang="tr-TR" sz="1800" dirty="0">
                <a:ea typeface="+mn-lt"/>
                <a:cs typeface="+mn-lt"/>
              </a:rPr>
              <a:t> </a:t>
            </a:r>
            <a:r>
              <a:rPr lang="tr-TR" sz="1800" dirty="0" err="1">
                <a:ea typeface="+mn-lt"/>
                <a:cs typeface="+mn-lt"/>
              </a:rPr>
              <a:t>cancel</a:t>
            </a:r>
            <a:r>
              <a:rPr lang="tr-TR" sz="1800" dirty="0">
                <a:ea typeface="+mn-lt"/>
                <a:cs typeface="+mn-lt"/>
              </a:rPr>
              <a:t> </a:t>
            </a:r>
            <a:r>
              <a:rPr lang="tr-TR" sz="1800" dirty="0" err="1">
                <a:ea typeface="+mn-lt"/>
                <a:cs typeface="+mn-lt"/>
              </a:rPr>
              <a:t>bookings</a:t>
            </a:r>
            <a:r>
              <a:rPr lang="tr-TR" sz="1800" dirty="0">
                <a:ea typeface="+mn-lt"/>
                <a:cs typeface="+mn-lt"/>
              </a:rPr>
              <a:t> (</a:t>
            </a:r>
            <a:r>
              <a:rPr lang="tr-TR" sz="1800" dirty="0" err="1">
                <a:latin typeface="Consolas"/>
              </a:rPr>
              <a:t>Appointment</a:t>
            </a:r>
            <a:r>
              <a:rPr lang="tr-TR" sz="1800" dirty="0">
                <a:ea typeface="+mn-lt"/>
                <a:cs typeface="+mn-lt"/>
              </a:rPr>
              <a:t>).</a:t>
            </a:r>
          </a:p>
          <a:p>
            <a:pPr marL="0" indent="0">
              <a:buNone/>
            </a:pPr>
            <a:r>
              <a:rPr lang="tr-TR" sz="1800" dirty="0">
                <a:ea typeface="+mn-lt"/>
                <a:cs typeface="+mn-lt"/>
              </a:rPr>
              <a:t>• </a:t>
            </a:r>
            <a:r>
              <a:rPr lang="tr-TR" sz="1800" b="1" dirty="0" err="1">
                <a:ea typeface="+mn-lt"/>
                <a:cs typeface="+mn-lt"/>
              </a:rPr>
              <a:t>Medical</a:t>
            </a:r>
            <a:r>
              <a:rPr lang="tr-TR" sz="1800" b="1" dirty="0">
                <a:ea typeface="+mn-lt"/>
                <a:cs typeface="+mn-lt"/>
              </a:rPr>
              <a:t> </a:t>
            </a:r>
            <a:r>
              <a:rPr lang="tr-TR" sz="1800" b="1" dirty="0" err="1">
                <a:ea typeface="+mn-lt"/>
                <a:cs typeface="+mn-lt"/>
              </a:rPr>
              <a:t>Record</a:t>
            </a:r>
            <a:r>
              <a:rPr lang="tr-TR" sz="1800" b="1" dirty="0">
                <a:ea typeface="+mn-lt"/>
                <a:cs typeface="+mn-lt"/>
              </a:rPr>
              <a:t> </a:t>
            </a:r>
            <a:r>
              <a:rPr lang="tr-TR" sz="1800" b="1" dirty="0" err="1">
                <a:ea typeface="+mn-lt"/>
                <a:cs typeface="+mn-lt"/>
              </a:rPr>
              <a:t>Tracking</a:t>
            </a:r>
            <a:r>
              <a:rPr lang="tr-TR" sz="1800" b="1" dirty="0">
                <a:ea typeface="+mn-lt"/>
                <a:cs typeface="+mn-lt"/>
              </a:rPr>
              <a:t>:</a:t>
            </a:r>
            <a:r>
              <a:rPr lang="tr-TR" sz="1800" dirty="0">
                <a:ea typeface="+mn-lt"/>
                <a:cs typeface="+mn-lt"/>
              </a:rPr>
              <a:t> </a:t>
            </a:r>
            <a:r>
              <a:rPr lang="tr-TR" sz="1800" dirty="0" err="1">
                <a:ea typeface="+mn-lt"/>
                <a:cs typeface="+mn-lt"/>
              </a:rPr>
              <a:t>Storing</a:t>
            </a:r>
            <a:r>
              <a:rPr lang="tr-TR" sz="1800" dirty="0">
                <a:ea typeface="+mn-lt"/>
                <a:cs typeface="+mn-lt"/>
              </a:rPr>
              <a:t> post-</a:t>
            </a:r>
            <a:r>
              <a:rPr lang="tr-TR" sz="1800" dirty="0" err="1">
                <a:ea typeface="+mn-lt"/>
                <a:cs typeface="+mn-lt"/>
              </a:rPr>
              <a:t>examination</a:t>
            </a:r>
            <a:r>
              <a:rPr lang="tr-TR" sz="1800" dirty="0">
                <a:ea typeface="+mn-lt"/>
                <a:cs typeface="+mn-lt"/>
              </a:rPr>
              <a:t> </a:t>
            </a:r>
            <a:r>
              <a:rPr lang="tr-TR" sz="1800" dirty="0" err="1">
                <a:ea typeface="+mn-lt"/>
                <a:cs typeface="+mn-lt"/>
              </a:rPr>
              <a:t>diagnosis</a:t>
            </a:r>
            <a:r>
              <a:rPr lang="tr-TR" sz="1800" dirty="0">
                <a:ea typeface="+mn-lt"/>
                <a:cs typeface="+mn-lt"/>
              </a:rPr>
              <a:t>, </a:t>
            </a:r>
            <a:r>
              <a:rPr lang="tr-TR" sz="1800" dirty="0" err="1">
                <a:ea typeface="+mn-lt"/>
                <a:cs typeface="+mn-lt"/>
              </a:rPr>
              <a:t>vital</a:t>
            </a:r>
            <a:r>
              <a:rPr lang="tr-TR" sz="1800" dirty="0">
                <a:ea typeface="+mn-lt"/>
                <a:cs typeface="+mn-lt"/>
              </a:rPr>
              <a:t> </a:t>
            </a:r>
            <a:r>
              <a:rPr lang="tr-TR" sz="1800" dirty="0" err="1">
                <a:ea typeface="+mn-lt"/>
                <a:cs typeface="+mn-lt"/>
              </a:rPr>
              <a:t>signs</a:t>
            </a:r>
            <a:r>
              <a:rPr lang="tr-TR" sz="1800" dirty="0">
                <a:ea typeface="+mn-lt"/>
                <a:cs typeface="+mn-lt"/>
              </a:rPr>
              <a:t>, </a:t>
            </a:r>
            <a:r>
              <a:rPr lang="tr-TR" sz="1800" dirty="0" err="1">
                <a:ea typeface="+mn-lt"/>
                <a:cs typeface="+mn-lt"/>
              </a:rPr>
              <a:t>and</a:t>
            </a:r>
            <a:r>
              <a:rPr lang="tr-TR" sz="1800" dirty="0">
                <a:ea typeface="+mn-lt"/>
                <a:cs typeface="+mn-lt"/>
              </a:rPr>
              <a:t> </a:t>
            </a:r>
            <a:r>
              <a:rPr lang="tr-TR" sz="1800" dirty="0" err="1">
                <a:ea typeface="+mn-lt"/>
                <a:cs typeface="+mn-lt"/>
              </a:rPr>
              <a:t>treatment</a:t>
            </a:r>
            <a:r>
              <a:rPr lang="tr-TR" sz="1800" dirty="0">
                <a:ea typeface="+mn-lt"/>
                <a:cs typeface="+mn-lt"/>
              </a:rPr>
              <a:t> </a:t>
            </a:r>
            <a:r>
              <a:rPr lang="tr-TR" sz="1800" dirty="0" err="1">
                <a:ea typeface="+mn-lt"/>
                <a:cs typeface="+mn-lt"/>
              </a:rPr>
              <a:t>history</a:t>
            </a:r>
            <a:r>
              <a:rPr lang="tr-TR" sz="1800" dirty="0">
                <a:ea typeface="+mn-lt"/>
                <a:cs typeface="+mn-lt"/>
              </a:rPr>
              <a:t> (</a:t>
            </a:r>
            <a:r>
              <a:rPr lang="tr-TR" sz="1800" dirty="0" err="1">
                <a:latin typeface="Consolas"/>
                <a:ea typeface="+mn-lt"/>
                <a:cs typeface="+mn-lt"/>
              </a:rPr>
              <a:t>Diagnosis</a:t>
            </a:r>
            <a:r>
              <a:rPr lang="tr-TR" sz="1800" dirty="0">
                <a:ea typeface="+mn-lt"/>
                <a:cs typeface="+mn-lt"/>
              </a:rPr>
              <a:t>).</a:t>
            </a:r>
          </a:p>
          <a:p>
            <a:pPr marL="0" indent="0">
              <a:buNone/>
            </a:pPr>
            <a:r>
              <a:rPr lang="tr-TR" sz="1800" dirty="0">
                <a:ea typeface="+mn-lt"/>
                <a:cs typeface="+mn-lt"/>
              </a:rPr>
              <a:t>• </a:t>
            </a:r>
            <a:r>
              <a:rPr lang="tr-TR" sz="1800" b="1" err="1">
                <a:ea typeface="+mn-lt"/>
                <a:cs typeface="+mn-lt"/>
              </a:rPr>
              <a:t>Invoicing</a:t>
            </a:r>
            <a:r>
              <a:rPr lang="tr-TR" sz="1800" b="1" dirty="0">
                <a:ea typeface="+mn-lt"/>
                <a:cs typeface="+mn-lt"/>
              </a:rPr>
              <a:t>:</a:t>
            </a:r>
            <a:r>
              <a:rPr lang="tr-TR" sz="1800" dirty="0">
                <a:ea typeface="+mn-lt"/>
                <a:cs typeface="+mn-lt"/>
              </a:rPr>
              <a:t> </a:t>
            </a:r>
            <a:r>
              <a:rPr lang="tr-TR" sz="1800" err="1">
                <a:ea typeface="+mn-lt"/>
                <a:cs typeface="+mn-lt"/>
              </a:rPr>
              <a:t>Automatic</a:t>
            </a:r>
            <a:r>
              <a:rPr lang="tr-TR" sz="1800" dirty="0">
                <a:ea typeface="+mn-lt"/>
                <a:cs typeface="+mn-lt"/>
              </a:rPr>
              <a:t> </a:t>
            </a:r>
            <a:r>
              <a:rPr lang="tr-TR" sz="1800" err="1">
                <a:ea typeface="+mn-lt"/>
                <a:cs typeface="+mn-lt"/>
              </a:rPr>
              <a:t>generation</a:t>
            </a:r>
            <a:r>
              <a:rPr lang="tr-TR" sz="1800" dirty="0">
                <a:ea typeface="+mn-lt"/>
                <a:cs typeface="+mn-lt"/>
              </a:rPr>
              <a:t> of </a:t>
            </a:r>
            <a:r>
              <a:rPr lang="tr-TR" sz="1800" err="1">
                <a:ea typeface="+mn-lt"/>
                <a:cs typeface="+mn-lt"/>
              </a:rPr>
              <a:t>invoices</a:t>
            </a:r>
            <a:r>
              <a:rPr lang="tr-TR" sz="1800" dirty="0">
                <a:ea typeface="+mn-lt"/>
                <a:cs typeface="+mn-lt"/>
              </a:rPr>
              <a:t> (</a:t>
            </a:r>
            <a:r>
              <a:rPr lang="tr-TR" sz="1800" err="1">
                <a:latin typeface="Consolas"/>
                <a:ea typeface="+mn-lt"/>
                <a:cs typeface="+mn-lt"/>
              </a:rPr>
              <a:t>Invoice</a:t>
            </a:r>
            <a:r>
              <a:rPr lang="tr-TR" sz="1800" dirty="0">
                <a:ea typeface="+mn-lt"/>
                <a:cs typeface="+mn-lt"/>
              </a:rPr>
              <a:t>) </a:t>
            </a:r>
            <a:r>
              <a:rPr lang="tr-TR" sz="1800" err="1">
                <a:ea typeface="+mn-lt"/>
                <a:cs typeface="+mn-lt"/>
              </a:rPr>
              <a:t>and</a:t>
            </a:r>
            <a:r>
              <a:rPr lang="tr-TR" sz="1800" dirty="0">
                <a:ea typeface="+mn-lt"/>
                <a:cs typeface="+mn-lt"/>
              </a:rPr>
              <a:t> </a:t>
            </a:r>
            <a:r>
              <a:rPr lang="tr-TR" sz="1800" err="1">
                <a:ea typeface="+mn-lt"/>
                <a:cs typeface="+mn-lt"/>
              </a:rPr>
              <a:t>line</a:t>
            </a:r>
            <a:r>
              <a:rPr lang="tr-TR" sz="1800" dirty="0">
                <a:ea typeface="+mn-lt"/>
                <a:cs typeface="+mn-lt"/>
              </a:rPr>
              <a:t> </a:t>
            </a:r>
            <a:r>
              <a:rPr lang="tr-TR" sz="1800" err="1">
                <a:ea typeface="+mn-lt"/>
                <a:cs typeface="+mn-lt"/>
              </a:rPr>
              <a:t>items</a:t>
            </a:r>
            <a:r>
              <a:rPr lang="tr-TR" sz="1800" dirty="0">
                <a:ea typeface="+mn-lt"/>
                <a:cs typeface="+mn-lt"/>
              </a:rPr>
              <a:t> (</a:t>
            </a:r>
            <a:r>
              <a:rPr lang="tr-TR" sz="1800" err="1">
                <a:latin typeface="Consolas"/>
                <a:ea typeface="+mn-lt"/>
                <a:cs typeface="+mn-lt"/>
              </a:rPr>
              <a:t>InvoiceItem</a:t>
            </a:r>
            <a:r>
              <a:rPr lang="tr-TR" sz="1800" dirty="0">
                <a:ea typeface="+mn-lt"/>
                <a:cs typeface="+mn-lt"/>
              </a:rPr>
              <a:t>) </a:t>
            </a:r>
            <a:r>
              <a:rPr lang="tr-TR" sz="1800" err="1">
                <a:ea typeface="+mn-lt"/>
                <a:cs typeface="+mn-lt"/>
              </a:rPr>
              <a:t>for</a:t>
            </a:r>
            <a:r>
              <a:rPr lang="tr-TR" sz="1800" dirty="0">
                <a:ea typeface="+mn-lt"/>
                <a:cs typeface="+mn-lt"/>
              </a:rPr>
              <a:t> </a:t>
            </a:r>
            <a:r>
              <a:rPr lang="tr-TR" sz="1800" err="1">
                <a:ea typeface="+mn-lt"/>
                <a:cs typeface="+mn-lt"/>
              </a:rPr>
              <a:t>completed</a:t>
            </a:r>
            <a:r>
              <a:rPr lang="tr-TR" sz="1800" dirty="0">
                <a:ea typeface="+mn-lt"/>
                <a:cs typeface="+mn-lt"/>
              </a:rPr>
              <a:t> </a:t>
            </a:r>
            <a:r>
              <a:rPr lang="tr-TR" sz="1800" err="1">
                <a:ea typeface="+mn-lt"/>
                <a:cs typeface="+mn-lt"/>
              </a:rPr>
              <a:t>appointments</a:t>
            </a:r>
            <a:r>
              <a:rPr lang="tr-TR" sz="1800" dirty="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tr-TR" sz="1800" dirty="0">
              <a:ea typeface="+mn-lt"/>
              <a:cs typeface="+mn-lt"/>
            </a:endParaRPr>
          </a:p>
          <a:p>
            <a:pPr marL="0" indent="0">
              <a:buNone/>
            </a:pPr>
            <a:endParaRPr lang="tr-TR" sz="1800"/>
          </a:p>
        </p:txBody>
      </p:sp>
    </p:spTree>
    <p:extLst>
      <p:ext uri="{BB962C8B-B14F-4D97-AF65-F5344CB8AC3E}">
        <p14:creationId xmlns:p14="http://schemas.microsoft.com/office/powerpoint/2010/main" val="3212053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company&#10;&#10;AI-generated content may be incorrect.">
            <a:extLst>
              <a:ext uri="{FF2B5EF4-FFF2-40B4-BE49-F238E27FC236}">
                <a16:creationId xmlns:a16="http://schemas.microsoft.com/office/drawing/2014/main" id="{1908A367-6191-DF0F-0A7F-9738373F8A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8486" y="5605"/>
            <a:ext cx="9163746" cy="685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46049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is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8" baseType="lpstr">
      <vt:lpstr>Ofis Teması</vt:lpstr>
      <vt:lpstr>VETERINARY CLINIC MANAGEMENT SYSTEM</vt:lpstr>
      <vt:lpstr>PowerPoint Sunusu</vt:lpstr>
      <vt:lpstr>PowerPoint Sunusu</vt:lpstr>
      <vt:lpstr>Attributes</vt:lpstr>
      <vt:lpstr>Cardinality and Modality</vt:lpstr>
      <vt:lpstr>System requirements and key functions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Vt</dc:title>
  <dc:creator/>
  <cp:lastModifiedBy/>
  <cp:revision>137</cp:revision>
  <dcterms:created xsi:type="dcterms:W3CDTF">2025-11-06T20:40:22Z</dcterms:created>
  <dcterms:modified xsi:type="dcterms:W3CDTF">2025-11-07T14:05:30Z</dcterms:modified>
</cp:coreProperties>
</file>